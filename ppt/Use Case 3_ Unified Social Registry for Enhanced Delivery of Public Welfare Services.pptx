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bold r:id="rId22"/>
      <p:boldItalic r:id="rId23"/>
    </p:embeddedFont>
    <p:embeddedFont>
      <p:font typeface="Roboto Light"/>
      <p:regular r:id="rId24"/>
      <p:bold r:id="rId25"/>
      <p:italic r:id="rId26"/>
      <p:boldItalic r:id="rId27"/>
    </p:embeddedFont>
    <p:embeddedFont>
      <p:font typeface="Oswald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slide" Target="slides/slide15.xml"/><Relationship Id="rId24" Type="http://schemas.openxmlformats.org/officeDocument/2006/relationships/font" Target="fonts/RobotoLigh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Light-italic.fntdata"/><Relationship Id="rId25" Type="http://schemas.openxmlformats.org/officeDocument/2006/relationships/font" Target="fonts/RobotoLight-bold.fntdata"/><Relationship Id="rId28" Type="http://schemas.openxmlformats.org/officeDocument/2006/relationships/font" Target="fonts/Oswald-bold.fntdata"/><Relationship Id="rId27" Type="http://schemas.openxmlformats.org/officeDocument/2006/relationships/font" Target="fonts/RobotoLigh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01a884665_0_2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01a884665_1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01a884665_11_8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01a884665_1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01a884665_11_9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01a884665_1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e01a884665_11_10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01a884665_1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01a884665_11_11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01a884665_1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01a884665_11_12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01a884665_1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01a884665_11_13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01a884665_1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01a884665_11_15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01a884665_1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01a884665_11_16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01a884665_1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01a884665_11_16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01a884665_1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01a884665_11_18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01a884665_0_3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e01a884665_0_3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01a884665_0_2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01a884665_0_2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01a884665_1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e01a884665_11_19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01a884665_20_0)">
  <p:cSld name="Generated (g3e01a884665_20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ctrTitle"/>
          </p:nvPr>
        </p:nvSpPr>
        <p:spPr>
          <a:xfrm>
            <a:off x="762000" y="1524000"/>
            <a:ext cx="762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4800">
              <a:solidFill>
                <a:srgbClr val="1A1A1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4800">
                <a:solidFill>
                  <a:srgbClr val="1A1A1A"/>
                </a:solidFill>
                <a:latin typeface="Oswald"/>
                <a:ea typeface="Oswald"/>
                <a:cs typeface="Oswald"/>
                <a:sym typeface="Oswald"/>
              </a:rPr>
              <a:t>Use Case 3: Unified Social Registry for Enhanced Delivery of Public Welfare Services</a:t>
            </a:r>
            <a:endParaRPr b="1" sz="4800">
              <a:solidFill>
                <a:srgbClr val="1A1A1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4800">
              <a:solidFill>
                <a:srgbClr val="1A1A1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1A1A1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6"/>
          <p:cNvSpPr/>
          <p:nvPr/>
        </p:nvSpPr>
        <p:spPr>
          <a:xfrm>
            <a:off x="4095750" y="3333750"/>
            <a:ext cx="9525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7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27"/>
          <p:cNvGrpSpPr/>
          <p:nvPr/>
        </p:nvGrpSpPr>
        <p:grpSpPr>
          <a:xfrm>
            <a:off x="409575" y="381000"/>
            <a:ext cx="8325000" cy="809775"/>
            <a:chOff x="409575" y="381000"/>
            <a:chExt cx="8325000" cy="809775"/>
          </a:xfrm>
        </p:grpSpPr>
        <p:sp>
          <p:nvSpPr>
            <p:cNvPr id="138" name="Google Shape;138;p27"/>
            <p:cNvSpPr txBox="1"/>
            <p:nvPr/>
          </p:nvSpPr>
          <p:spPr>
            <a:xfrm>
              <a:off x="409575" y="381000"/>
              <a:ext cx="832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F172A"/>
                  </a:solidFill>
                  <a:latin typeface="Oswald"/>
                  <a:ea typeface="Oswald"/>
                  <a:cs typeface="Oswald"/>
                  <a:sym typeface="Oswald"/>
                </a:rPr>
                <a:t>Knowledge Graph Fraud Intelligence</a:t>
              </a:r>
              <a:endParaRPr b="1" sz="32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39" name="Google Shape;139;p27"/>
            <p:cNvSpPr txBox="1"/>
            <p:nvPr/>
          </p:nvSpPr>
          <p:spPr>
            <a:xfrm>
              <a:off x="409575" y="904875"/>
              <a:ext cx="832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47556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How Advance-RAG explains, prioritizes, and operationalizes fraud risk</a:t>
              </a:r>
              <a:endParaRPr b="0" sz="1400">
                <a:solidFill>
                  <a:srgbClr val="47556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40" name="Google Shape;140;p27"/>
          <p:cNvGrpSpPr/>
          <p:nvPr/>
        </p:nvGrpSpPr>
        <p:grpSpPr>
          <a:xfrm>
            <a:off x="409575" y="1524000"/>
            <a:ext cx="2571900" cy="2667000"/>
            <a:chOff x="0" y="0"/>
            <a:chExt cx="2571900" cy="2667000"/>
          </a:xfrm>
        </p:grpSpPr>
        <p:sp>
          <p:nvSpPr>
            <p:cNvPr id="141" name="Google Shape;141;p27"/>
            <p:cNvSpPr/>
            <p:nvPr/>
          </p:nvSpPr>
          <p:spPr>
            <a:xfrm>
              <a:off x="0" y="0"/>
              <a:ext cx="2571900" cy="2667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2" name="Google Shape;14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5719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27"/>
            <p:cNvSpPr txBox="1"/>
            <p:nvPr/>
          </p:nvSpPr>
          <p:spPr>
            <a:xfrm>
              <a:off x="190500" y="95250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Presentation Scope</a:t>
              </a:r>
              <a:endParaRPr b="1" sz="140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27"/>
            <p:cNvSpPr txBox="1"/>
            <p:nvPr/>
          </p:nvSpPr>
          <p:spPr>
            <a:xfrm>
              <a:off x="190500" y="571500"/>
              <a:ext cx="2190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165" lvl="0" marL="457200" rtl="0" algn="l">
                <a:spcBef>
                  <a:spcPts val="0"/>
                </a:spcBef>
                <a:spcAft>
                  <a:spcPts val="0"/>
                </a:spcAft>
                <a:buSzPts val="1190"/>
                <a:buChar char="●"/>
              </a:pPr>
              <a:r>
                <a:rPr b="1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Research Chat:</a:t>
              </a:r>
              <a:r>
                <a:rPr b="0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 Grounded investigative narratives</a:t>
              </a:r>
              <a:endParaRPr b="0" sz="935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165" lvl="0" marL="457200" rtl="0" algn="l">
                <a:spcBef>
                  <a:spcPts val="900"/>
                </a:spcBef>
                <a:spcAft>
                  <a:spcPts val="0"/>
                </a:spcAft>
                <a:buSzPts val="1190"/>
                <a:buChar char="●"/>
              </a:pPr>
              <a:r>
                <a:rPr b="1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Knowledge Map:</a:t>
              </a:r>
              <a:r>
                <a:rPr b="0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 Entity topology &amp; evidence paths</a:t>
              </a:r>
              <a:endParaRPr b="0" sz="935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165" lvl="0" marL="457200" rtl="0" algn="l">
                <a:spcBef>
                  <a:spcPts val="900"/>
                </a:spcBef>
                <a:spcAft>
                  <a:spcPts val="0"/>
                </a:spcAft>
                <a:buSzPts val="1190"/>
                <a:buChar char="●"/>
              </a:pPr>
              <a:r>
                <a:rPr b="1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Social Registry:</a:t>
              </a:r>
              <a:r>
                <a:rPr b="0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 Operational triage dashboard</a:t>
              </a:r>
              <a:endParaRPr b="0" sz="935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5" name="Google Shape;145;p27"/>
          <p:cNvGrpSpPr/>
          <p:nvPr/>
        </p:nvGrpSpPr>
        <p:grpSpPr>
          <a:xfrm>
            <a:off x="3143250" y="1524000"/>
            <a:ext cx="5591100" cy="2667000"/>
            <a:chOff x="0" y="0"/>
            <a:chExt cx="5591100" cy="2667000"/>
          </a:xfrm>
        </p:grpSpPr>
        <p:sp>
          <p:nvSpPr>
            <p:cNvPr id="146" name="Google Shape;146;p27"/>
            <p:cNvSpPr/>
            <p:nvPr/>
          </p:nvSpPr>
          <p:spPr>
            <a:xfrm>
              <a:off x="0" y="0"/>
              <a:ext cx="55911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7" name="Google Shape;147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55911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27"/>
            <p:cNvSpPr txBox="1"/>
            <p:nvPr/>
          </p:nvSpPr>
          <p:spPr>
            <a:xfrm>
              <a:off x="190500" y="95250"/>
              <a:ext cx="521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Fraud Backbone Architecture</a:t>
              </a:r>
              <a:endParaRPr b="1" sz="14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49" name="Google Shape;149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1323975"/>
              <a:ext cx="2857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27"/>
            <p:cNvSpPr/>
            <p:nvPr/>
          </p:nvSpPr>
          <p:spPr>
            <a:xfrm>
              <a:off x="285750" y="1047750"/>
              <a:ext cx="571500" cy="5715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7"/>
            <p:cNvSpPr txBox="1"/>
            <p:nvPr/>
          </p:nvSpPr>
          <p:spPr>
            <a:xfrm>
              <a:off x="285750" y="35052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storge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1714500" y="1047750"/>
              <a:ext cx="571500" cy="5715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7"/>
            <p:cNvSpPr txBox="1"/>
            <p:nvPr/>
          </p:nvSpPr>
          <p:spPr>
            <a:xfrm>
              <a:off x="1714500" y="35052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3143250" y="1047750"/>
              <a:ext cx="571500" cy="5715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7"/>
            <p:cNvSpPr txBox="1"/>
            <p:nvPr/>
          </p:nvSpPr>
          <p:spPr>
            <a:xfrm>
              <a:off x="3143250" y="35052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6" name="Google Shape;156;p27"/>
            <p:cNvSpPr txBox="1"/>
            <p:nvPr/>
          </p:nvSpPr>
          <p:spPr>
            <a:xfrm>
              <a:off x="285750" y="171450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Raw Dump</a:t>
              </a:r>
              <a:br>
                <a:rPr b="0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srsdb.dump</a:t>
              </a:r>
              <a:endParaRPr b="0" sz="935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" name="Google Shape;157;p27"/>
            <p:cNvSpPr txBox="1"/>
            <p:nvPr/>
          </p:nvSpPr>
          <p:spPr>
            <a:xfrm>
              <a:off x="1666875" y="171450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Relational</a:t>
              </a:r>
              <a:br>
                <a:rPr b="0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PostgreSQL</a:t>
              </a:r>
              <a:endParaRPr b="0" sz="935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8" name="Google Shape;158;p27"/>
            <p:cNvSpPr txBox="1"/>
            <p:nvPr/>
          </p:nvSpPr>
          <p:spPr>
            <a:xfrm>
              <a:off x="3095625" y="171450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Graph</a:t>
              </a:r>
              <a:br>
                <a:rPr b="0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935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Neo4j</a:t>
              </a:r>
              <a:endParaRPr b="0" sz="935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futuristic blue and silver digital visualization of a complex knowledge graph network with nodes and connecting lines, abstract and professional." id="159" name="Google Shape;159;p27"/>
            <p:cNvPicPr preferRelativeResize="0"/>
            <p:nvPr/>
          </p:nvPicPr>
          <p:blipFill rotWithShape="1">
            <a:blip r:embed="rId6">
              <a:alphaModFix/>
            </a:blip>
            <a:srcRect b="0" l="5556" r="5556" t="0"/>
            <a:stretch/>
          </p:blipFill>
          <p:spPr>
            <a:xfrm>
              <a:off x="4191000" y="571500"/>
              <a:ext cx="1143000" cy="1714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160;p27"/>
          <p:cNvSpPr txBox="1"/>
          <p:nvPr/>
        </p:nvSpPr>
        <p:spPr>
          <a:xfrm>
            <a:off x="409575" y="4762500"/>
            <a:ext cx="83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Presentation deck with live frontend screenshots | April 2026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409575" y="38100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Data Source Clarity</a:t>
            </a:r>
            <a:endParaRPr b="1" sz="32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68" name="Google Shape;168;p28"/>
          <p:cNvGrpSpPr/>
          <p:nvPr/>
        </p:nvGrpSpPr>
        <p:grpSpPr>
          <a:xfrm>
            <a:off x="409575" y="1524000"/>
            <a:ext cx="4000500" cy="2667000"/>
            <a:chOff x="409575" y="1524000"/>
            <a:chExt cx="4000500" cy="2667000"/>
          </a:xfrm>
        </p:grpSpPr>
        <p:sp>
          <p:nvSpPr>
            <p:cNvPr id="169" name="Google Shape;169;p28"/>
            <p:cNvSpPr/>
            <p:nvPr/>
          </p:nvSpPr>
          <p:spPr>
            <a:xfrm>
              <a:off x="409575" y="1524000"/>
              <a:ext cx="40005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409575" y="1524000"/>
              <a:ext cx="4000500" cy="381000"/>
            </a:xfrm>
            <a:prstGeom prst="roundRect">
              <a:avLst>
                <a:gd fmla="val 3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8"/>
            <p:cNvSpPr txBox="1"/>
            <p:nvPr/>
          </p:nvSpPr>
          <p:spPr>
            <a:xfrm>
              <a:off x="600075" y="157162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Unstructured Pipeline</a:t>
              </a:r>
              <a:endParaRPr b="1" sz="14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2" name="Google Shape;172;p28"/>
            <p:cNvSpPr txBox="1"/>
            <p:nvPr/>
          </p:nvSpPr>
          <p:spPr>
            <a:xfrm>
              <a:off x="600075" y="2000250"/>
              <a:ext cx="3619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Uploaded Documents</a:t>
              </a:r>
              <a:endParaRPr b="1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Converts raw text into structured insights via: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Research Chat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1E293B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Document Knowledge Graph (KG)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3" name="Google Shape;173;p28"/>
          <p:cNvGrpSpPr/>
          <p:nvPr/>
        </p:nvGrpSpPr>
        <p:grpSpPr>
          <a:xfrm>
            <a:off x="4733925" y="1524000"/>
            <a:ext cx="4000500" cy="2667000"/>
            <a:chOff x="4733925" y="1524000"/>
            <a:chExt cx="4000500" cy="2667000"/>
          </a:xfrm>
        </p:grpSpPr>
        <p:sp>
          <p:nvSpPr>
            <p:cNvPr id="174" name="Google Shape;174;p28"/>
            <p:cNvSpPr/>
            <p:nvPr/>
          </p:nvSpPr>
          <p:spPr>
            <a:xfrm>
              <a:off x="4733925" y="1524000"/>
              <a:ext cx="40005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4733925" y="1524000"/>
              <a:ext cx="4000500" cy="381000"/>
            </a:xfrm>
            <a:prstGeom prst="roundRect">
              <a:avLst>
                <a:gd fmla="val 3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8"/>
            <p:cNvSpPr txBox="1"/>
            <p:nvPr/>
          </p:nvSpPr>
          <p:spPr>
            <a:xfrm>
              <a:off x="4924425" y="157162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Structured Pipeline</a:t>
              </a:r>
              <a:endParaRPr b="1" sz="14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7" name="Google Shape;177;p28"/>
            <p:cNvSpPr txBox="1"/>
            <p:nvPr/>
          </p:nvSpPr>
          <p:spPr>
            <a:xfrm>
              <a:off x="4924425" y="2000250"/>
              <a:ext cx="3619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Social Registry Dump</a:t>
              </a:r>
              <a:endParaRPr b="1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Drives the primary operational engine: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Graph Intelligence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Fraud Operations Dashboard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*Primary power for detection and triage</a:t>
              </a:r>
              <a:endParaRPr i="1"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8" name="Google Shape;178;p28"/>
          <p:cNvSpPr txBox="1"/>
          <p:nvPr/>
        </p:nvSpPr>
        <p:spPr>
          <a:xfrm>
            <a:off x="409575" y="476250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9"/>
          <p:cNvSpPr txBox="1"/>
          <p:nvPr/>
        </p:nvSpPr>
        <p:spPr>
          <a:xfrm>
            <a:off x="411491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Fraud Intelligence Rules Engine</a:t>
            </a:r>
            <a:endParaRPr b="1" i="0" sz="32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86" name="Google Shape;186;p29"/>
          <p:cNvGrpSpPr/>
          <p:nvPr/>
        </p:nvGrpSpPr>
        <p:grpSpPr>
          <a:xfrm>
            <a:off x="409575" y="1047750"/>
            <a:ext cx="8325000" cy="3524400"/>
            <a:chOff x="409575" y="1047750"/>
            <a:chExt cx="8325000" cy="3524400"/>
          </a:xfrm>
        </p:grpSpPr>
        <p:sp>
          <p:nvSpPr>
            <p:cNvPr id="187" name="Google Shape;187;p29"/>
            <p:cNvSpPr/>
            <p:nvPr/>
          </p:nvSpPr>
          <p:spPr>
            <a:xfrm>
              <a:off x="409575" y="1047750"/>
              <a:ext cx="83250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9"/>
            <p:cNvSpPr/>
            <p:nvPr/>
          </p:nvSpPr>
          <p:spPr>
            <a:xfrm>
              <a:off x="409575" y="1047750"/>
              <a:ext cx="8325000" cy="381000"/>
            </a:xfrm>
            <a:prstGeom prst="roundRect">
              <a:avLst>
                <a:gd fmla="val 3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9"/>
            <p:cNvSpPr txBox="1"/>
            <p:nvPr/>
          </p:nvSpPr>
          <p:spPr>
            <a:xfrm>
              <a:off x="409575" y="1047750"/>
              <a:ext cx="8325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Rule</a:t>
              </a:r>
              <a:endParaRPr b="1" sz="523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Trigger</a:t>
              </a:r>
              <a:endParaRPr b="1" sz="523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Confidence</a:t>
              </a:r>
              <a:endParaRPr b="1" sz="523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Edge Created</a:t>
              </a:r>
              <a:endParaRPr b="1" sz="523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b="1"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Age &gt; 110</a:t>
              </a:r>
              <a:endParaRPr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85%</a:t>
              </a:r>
              <a:endParaRPr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8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FLAGGED_AS → FraudFlag(GHOST)</a:t>
              </a:r>
              <a:endParaRPr sz="46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b="1"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DOB in future</a:t>
              </a:r>
              <a:endParaRPr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90%</a:t>
              </a:r>
              <a:endParaRPr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8">
                  <a:solidFill>
                    <a:srgbClr val="475569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FLAGGED_AS → FraudFlag(GHOST)</a:t>
              </a:r>
              <a:endParaRPr sz="468">
                <a:solidFill>
                  <a:srgbClr val="475569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b="1"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Exact name+DOB+GP</a:t>
              </a:r>
              <a:endParaRPr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92%</a:t>
              </a:r>
              <a:endParaRPr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8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POTENTIAL_DUPLICATE</a:t>
              </a:r>
              <a:endParaRPr sz="46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b="1"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Fuzzy name (≥80%) + DOB + GP</a:t>
              </a:r>
              <a:endParaRPr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78%</a:t>
              </a:r>
              <a:endParaRPr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8">
                  <a:solidFill>
                    <a:srgbClr val="475569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POTENTIAL_DUPLICATE</a:t>
              </a:r>
              <a:endParaRPr sz="468">
                <a:solidFill>
                  <a:srgbClr val="475569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b="1"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5+ same DOB at GP</a:t>
              </a:r>
              <a:endParaRPr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70%</a:t>
              </a:r>
              <a:endParaRPr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8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SAME_DOB_AT_GP</a:t>
              </a:r>
              <a:endParaRPr sz="46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B4</a:t>
              </a:r>
              <a:endParaRPr b="1"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Cross-GP same name+DOB</a:t>
              </a:r>
              <a:endParaRPr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65%</a:t>
              </a:r>
              <a:endParaRPr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8">
                  <a:solidFill>
                    <a:srgbClr val="475569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POTENTIAL_DUPLICATE</a:t>
              </a:r>
              <a:endParaRPr sz="468">
                <a:solidFill>
                  <a:srgbClr val="475569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C1</a:t>
              </a:r>
              <a:endParaRPr b="1"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GP &gt; 15% of enrollments (min 50)</a:t>
              </a:r>
              <a:endParaRPr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70%</a:t>
              </a:r>
              <a:endParaRPr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8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HIGH_RISK_CLUSTER</a:t>
              </a:r>
              <a:endParaRPr sz="46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C3</a:t>
              </a:r>
              <a:endParaRPr b="1"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Enrollment before birth year</a:t>
              </a:r>
              <a:endParaRPr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80%</a:t>
              </a:r>
              <a:endParaRPr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8">
                  <a:solidFill>
                    <a:srgbClr val="475569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FLAGGED_AS → FraudFlag(ANOMALY)</a:t>
              </a:r>
              <a:endParaRPr sz="468">
                <a:solidFill>
                  <a:srgbClr val="475569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D1</a:t>
              </a:r>
              <a:endParaRPr b="1"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Missing DOB</a:t>
              </a:r>
              <a:endParaRPr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60%</a:t>
              </a:r>
              <a:endParaRPr sz="523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8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FLAGGED_AS → FraudFlag(DATA_QUALITY)</a:t>
              </a:r>
              <a:endParaRPr sz="46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D3</a:t>
              </a:r>
              <a:endParaRPr b="1"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Duplicate scheme_beneficiary_id</a:t>
              </a:r>
              <a:endParaRPr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3">
                  <a:solidFill>
                    <a:srgbClr val="1E293B"/>
                  </a:solidFill>
                  <a:highlight>
                    <a:srgbClr val="F8FAFC"/>
                  </a:highlight>
                  <a:latin typeface="Roboto"/>
                  <a:ea typeface="Roboto"/>
                  <a:cs typeface="Roboto"/>
                  <a:sym typeface="Roboto"/>
                </a:rPr>
                <a:t>88%</a:t>
              </a:r>
              <a:endParaRPr sz="523">
                <a:solidFill>
                  <a:srgbClr val="1E293B"/>
                </a:solidFill>
                <a:highlight>
                  <a:srgbClr val="F8FAFC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8">
                  <a:solidFill>
                    <a:srgbClr val="475569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FLAGGED_AS → FraudFlag(DATA_QUALITY)</a:t>
              </a:r>
              <a:endParaRPr sz="468">
                <a:solidFill>
                  <a:srgbClr val="475569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29"/>
          <p:cNvSpPr txBox="1"/>
          <p:nvPr/>
        </p:nvSpPr>
        <p:spPr>
          <a:xfrm>
            <a:off x="411491" y="4834890"/>
            <a:ext cx="8298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Advance-RAG | KG Fraud Intelligence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411491" y="33528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How Each Module Helps Users</a:t>
            </a:r>
            <a:endParaRPr b="1" i="0" sz="32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98" name="Google Shape;198;p30"/>
          <p:cNvGrpSpPr/>
          <p:nvPr/>
        </p:nvGrpSpPr>
        <p:grpSpPr>
          <a:xfrm>
            <a:off x="409575" y="1333500"/>
            <a:ext cx="2667000" cy="3238500"/>
            <a:chOff x="409575" y="1333500"/>
            <a:chExt cx="2667000" cy="3238500"/>
          </a:xfrm>
        </p:grpSpPr>
        <p:sp>
          <p:nvSpPr>
            <p:cNvPr id="199" name="Google Shape;199;p30"/>
            <p:cNvSpPr/>
            <p:nvPr/>
          </p:nvSpPr>
          <p:spPr>
            <a:xfrm>
              <a:off x="409575" y="13335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409575" y="1333500"/>
              <a:ext cx="2667000" cy="428700"/>
            </a:xfrm>
            <a:prstGeom prst="roundRect">
              <a:avLst>
                <a:gd fmla="val 26666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0"/>
            <p:cNvSpPr txBox="1"/>
            <p:nvPr/>
          </p:nvSpPr>
          <p:spPr>
            <a:xfrm>
              <a:off x="552450" y="133350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Research Chat</a:t>
              </a:r>
              <a:endParaRPr b="1" sz="14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2" name="Google Shape;202;p30"/>
            <p:cNvSpPr txBox="1"/>
            <p:nvPr/>
          </p:nvSpPr>
          <p:spPr>
            <a:xfrm>
              <a:off x="552450" y="1905000"/>
              <a:ext cx="2381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Converts graph/document context into grounded investigative narratives.</a:t>
              </a:r>
              <a:endParaRPr b="0" sz="1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3" name="Google Shape;203;p30"/>
            <p:cNvSpPr txBox="1"/>
            <p:nvPr/>
          </p:nvSpPr>
          <p:spPr>
            <a:xfrm>
              <a:off x="552450" y="147408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04" name="Google Shape;204;p30"/>
          <p:cNvGrpSpPr/>
          <p:nvPr/>
        </p:nvGrpSpPr>
        <p:grpSpPr>
          <a:xfrm>
            <a:off x="3238500" y="1333500"/>
            <a:ext cx="2667000" cy="3238500"/>
            <a:chOff x="3238500" y="1333500"/>
            <a:chExt cx="2667000" cy="3238500"/>
          </a:xfrm>
        </p:grpSpPr>
        <p:sp>
          <p:nvSpPr>
            <p:cNvPr id="205" name="Google Shape;205;p30"/>
            <p:cNvSpPr/>
            <p:nvPr/>
          </p:nvSpPr>
          <p:spPr>
            <a:xfrm>
              <a:off x="3238500" y="13335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3238500" y="1333500"/>
              <a:ext cx="2667000" cy="428700"/>
            </a:xfrm>
            <a:prstGeom prst="roundRect">
              <a:avLst>
                <a:gd fmla="val 26666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0"/>
            <p:cNvSpPr txBox="1"/>
            <p:nvPr/>
          </p:nvSpPr>
          <p:spPr>
            <a:xfrm>
              <a:off x="3381375" y="133350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Knowledge Map</a:t>
              </a:r>
              <a:endParaRPr b="1" sz="14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8" name="Google Shape;208;p30"/>
            <p:cNvSpPr txBox="1"/>
            <p:nvPr/>
          </p:nvSpPr>
          <p:spPr>
            <a:xfrm>
              <a:off x="3381375" y="1905000"/>
              <a:ext cx="2381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Visualizes suspicious entity topology and evidence paths.</a:t>
              </a:r>
              <a:endParaRPr b="0" sz="1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9" name="Google Shape;209;p30"/>
            <p:cNvSpPr txBox="1"/>
            <p:nvPr/>
          </p:nvSpPr>
          <p:spPr>
            <a:xfrm>
              <a:off x="3381375" y="147408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10" name="Google Shape;210;p30"/>
          <p:cNvGrpSpPr/>
          <p:nvPr/>
        </p:nvGrpSpPr>
        <p:grpSpPr>
          <a:xfrm>
            <a:off x="6067425" y="1333500"/>
            <a:ext cx="2667000" cy="3238500"/>
            <a:chOff x="6067425" y="1333500"/>
            <a:chExt cx="2667000" cy="3238500"/>
          </a:xfrm>
        </p:grpSpPr>
        <p:sp>
          <p:nvSpPr>
            <p:cNvPr id="211" name="Google Shape;211;p30"/>
            <p:cNvSpPr/>
            <p:nvPr/>
          </p:nvSpPr>
          <p:spPr>
            <a:xfrm>
              <a:off x="6067425" y="13335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0"/>
            <p:cNvSpPr/>
            <p:nvPr/>
          </p:nvSpPr>
          <p:spPr>
            <a:xfrm>
              <a:off x="6067425" y="1333500"/>
              <a:ext cx="2667000" cy="428700"/>
            </a:xfrm>
            <a:prstGeom prst="roundRect">
              <a:avLst>
                <a:gd fmla="val 26666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0"/>
            <p:cNvSpPr txBox="1"/>
            <p:nvPr/>
          </p:nvSpPr>
          <p:spPr>
            <a:xfrm>
              <a:off x="6210300" y="133350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Social Registry Dashboard</a:t>
              </a:r>
              <a:endParaRPr b="1" sz="14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14" name="Google Shape;214;p30"/>
            <p:cNvSpPr txBox="1"/>
            <p:nvPr/>
          </p:nvSpPr>
          <p:spPr>
            <a:xfrm>
              <a:off x="6210300" y="1905000"/>
              <a:ext cx="2381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Turns graph signals into triage-ready operational workflows.</a:t>
              </a:r>
              <a:endParaRPr b="0" sz="1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" name="Google Shape;215;p30"/>
            <p:cNvSpPr txBox="1"/>
            <p:nvPr/>
          </p:nvSpPr>
          <p:spPr>
            <a:xfrm>
              <a:off x="6210300" y="147408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16" name="Google Shape;216;p30"/>
          <p:cNvSpPr txBox="1"/>
          <p:nvPr/>
        </p:nvSpPr>
        <p:spPr>
          <a:xfrm>
            <a:off x="411491" y="476250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i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1"/>
          <p:cNvSpPr txBox="1"/>
          <p:nvPr/>
        </p:nvSpPr>
        <p:spPr>
          <a:xfrm>
            <a:off x="411491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Knowledge Map: Graph Explainability</a:t>
            </a:r>
            <a:endParaRPr b="1" sz="32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381000" y="952500"/>
            <a:ext cx="57150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1"/>
          <p:cNvSpPr/>
          <p:nvPr/>
        </p:nvSpPr>
        <p:spPr>
          <a:xfrm>
            <a:off x="381000" y="952500"/>
            <a:ext cx="5715000" cy="381000"/>
          </a:xfrm>
          <a:prstGeom prst="roundRect">
            <a:avLst>
              <a:gd fmla="val 30000" name="adj"/>
            </a:avLst>
          </a:prstGeom>
          <a:solidFill>
            <a:srgbClr val="2563E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1"/>
          <p:cNvSpPr txBox="1"/>
          <p:nvPr/>
        </p:nvSpPr>
        <p:spPr>
          <a:xfrm>
            <a:off x="523875" y="952500"/>
            <a:ext cx="542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LIVE KNOWLEDGE GRAPH INTERFACE</a:t>
            </a:r>
            <a:endParaRPr b="1" sz="1100">
              <a:solidFill>
                <a:srgbClr val="2563E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26" name="Google Shape;226;p31"/>
          <p:cNvPicPr preferRelativeResize="0"/>
          <p:nvPr/>
        </p:nvPicPr>
        <p:blipFill rotWithShape="1">
          <a:blip r:embed="rId3">
            <a:alphaModFix/>
          </a:blip>
          <a:srcRect b="4849" l="0" r="0" t="4858"/>
          <a:stretch/>
        </p:blipFill>
        <p:spPr>
          <a:xfrm>
            <a:off x="476250" y="1428750"/>
            <a:ext cx="55245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 txBox="1"/>
          <p:nvPr/>
        </p:nvSpPr>
        <p:spPr>
          <a:xfrm>
            <a:off x="6286500" y="1143000"/>
            <a:ext cx="2476500" cy="280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error_outline</a:t>
            </a:r>
            <a:endParaRPr b="0" sz="2800">
              <a:solidFill>
                <a:srgbClr val="2563E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SUSPICIOUS ENTITIES</a:t>
            </a:r>
            <a:endParaRPr b="1" sz="13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Red </a:t>
            </a:r>
            <a:r>
              <a:rPr b="1" lang="en" sz="1100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FraudFlag</a:t>
            </a:r>
            <a:r>
              <a:rPr b="0"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nodes highlight anomalies and connected risk clusters in real-time.</a:t>
            </a:r>
            <a:endParaRPr b="0"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visibility</a:t>
            </a:r>
            <a:endParaRPr b="0" sz="2800">
              <a:solidFill>
                <a:srgbClr val="2563E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VISUAL INSPECTION</a:t>
            </a:r>
            <a:endParaRPr b="1" sz="13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Analysts can visually trace hub patterns between schemes and primary beneficiaries.</a:t>
            </a:r>
            <a:endParaRPr b="0"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411491" y="476250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381000" y="952500"/>
            <a:ext cx="57150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2"/>
          <p:cNvSpPr/>
          <p:nvPr/>
        </p:nvSpPr>
        <p:spPr>
          <a:xfrm>
            <a:off x="381000" y="952500"/>
            <a:ext cx="5715000" cy="381000"/>
          </a:xfrm>
          <a:prstGeom prst="roundRect">
            <a:avLst>
              <a:gd fmla="val 30000" name="adj"/>
            </a:avLst>
          </a:prstGeom>
          <a:solidFill>
            <a:srgbClr val="2563E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2"/>
          <p:cNvSpPr txBox="1"/>
          <p:nvPr/>
        </p:nvSpPr>
        <p:spPr>
          <a:xfrm>
            <a:off x="523875" y="952500"/>
            <a:ext cx="542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GEO-SPATIAL RISK DEPLOYMENT</a:t>
            </a:r>
            <a:endParaRPr b="1" sz="1100">
              <a:solidFill>
                <a:srgbClr val="2563E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38" name="Google Shape;238;p32"/>
          <p:cNvPicPr preferRelativeResize="0"/>
          <p:nvPr/>
        </p:nvPicPr>
        <p:blipFill rotWithShape="1">
          <a:blip r:embed="rId3">
            <a:alphaModFix/>
          </a:blip>
          <a:srcRect b="1428" l="0" r="0" t="1418"/>
          <a:stretch/>
        </p:blipFill>
        <p:spPr>
          <a:xfrm>
            <a:off x="476250" y="1428750"/>
            <a:ext cx="5524500" cy="3048000"/>
          </a:xfrm>
          <a:prstGeom prst="roundRect">
            <a:avLst>
              <a:gd fmla="val 2500" name="adj"/>
            </a:avLst>
          </a:prstGeom>
          <a:noFill/>
          <a:ln>
            <a:noFill/>
          </a:ln>
        </p:spPr>
      </p:pic>
      <p:grpSp>
        <p:nvGrpSpPr>
          <p:cNvPr id="239" name="Google Shape;239;p32"/>
          <p:cNvGrpSpPr/>
          <p:nvPr/>
        </p:nvGrpSpPr>
        <p:grpSpPr>
          <a:xfrm>
            <a:off x="6286500" y="952500"/>
            <a:ext cx="2476500" cy="1714500"/>
            <a:chOff x="6286500" y="952500"/>
            <a:chExt cx="2476500" cy="1714500"/>
          </a:xfrm>
        </p:grpSpPr>
        <p:sp>
          <p:nvSpPr>
            <p:cNvPr id="240" name="Google Shape;240;p32"/>
            <p:cNvSpPr/>
            <p:nvPr/>
          </p:nvSpPr>
          <p:spPr>
            <a:xfrm>
              <a:off x="6286500" y="952500"/>
              <a:ext cx="24765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6286500" y="952500"/>
              <a:ext cx="2476500" cy="381000"/>
            </a:xfrm>
            <a:prstGeom prst="roundRect">
              <a:avLst>
                <a:gd fmla="val 3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2"/>
            <p:cNvSpPr txBox="1"/>
            <p:nvPr/>
          </p:nvSpPr>
          <p:spPr>
            <a:xfrm>
              <a:off x="6429375" y="95250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LIFECYCLE VULNERABILITY</a:t>
              </a:r>
              <a:endParaRPr b="1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pic>
          <p:nvPicPr>
            <p:cNvPr id="243" name="Google Shape;243;p32"/>
            <p:cNvPicPr preferRelativeResize="0"/>
            <p:nvPr/>
          </p:nvPicPr>
          <p:blipFill rotWithShape="1">
            <a:blip r:embed="rId4">
              <a:alphaModFix/>
            </a:blip>
            <a:srcRect b="12372" l="0" r="0" t="12372"/>
            <a:stretch/>
          </p:blipFill>
          <p:spPr>
            <a:xfrm>
              <a:off x="6381750" y="1428750"/>
              <a:ext cx="2286000" cy="11430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</p:grpSp>
      <p:sp>
        <p:nvSpPr>
          <p:cNvPr id="244" name="Google Shape;244;p32"/>
          <p:cNvSpPr txBox="1"/>
          <p:nvPr/>
        </p:nvSpPr>
        <p:spPr>
          <a:xfrm>
            <a:off x="6286500" y="2857500"/>
            <a:ext cx="24765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insights</a:t>
            </a:r>
            <a:endParaRPr sz="2400">
              <a:solidFill>
                <a:srgbClr val="2563E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KEY INSIGHTS</a:t>
            </a:r>
            <a:endParaRPr b="1" sz="13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Roboto"/>
              <a:buChar char="●"/>
            </a:pPr>
            <a:r>
              <a:rPr b="0"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District-level risk distribution for last-mile targeting</a:t>
            </a:r>
            <a:endParaRPr b="0"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Roboto"/>
              <a:buChar char="●"/>
            </a:pPr>
            <a:r>
              <a:rPr b="0"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Beneficiary segmentation by profile</a:t>
            </a:r>
            <a:endParaRPr b="0"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"/>
          <p:cNvSpPr txBox="1"/>
          <p:nvPr/>
        </p:nvSpPr>
        <p:spPr>
          <a:xfrm>
            <a:off x="411491" y="240030"/>
            <a:ext cx="8367000" cy="48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2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Dashboard Analytics: Risk Targeting and Segmentation</a:t>
            </a:r>
            <a:endParaRPr b="1" sz="272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411491" y="483489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411491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Intelligence Feed: Real-Time Fraud Signals</a:t>
            </a:r>
            <a:endParaRPr b="1" sz="32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411491" y="1097280"/>
            <a:ext cx="4252200" cy="1817400"/>
          </a:xfrm>
          <a:prstGeom prst="roundRect">
            <a:avLst>
              <a:gd fmla="val 628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3"/>
          <p:cNvSpPr txBox="1"/>
          <p:nvPr/>
        </p:nvSpPr>
        <p:spPr>
          <a:xfrm>
            <a:off x="411491" y="1097280"/>
            <a:ext cx="4252200" cy="169200"/>
          </a:xfrm>
          <a:prstGeom prst="rect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DUPLICATE IDENTITY ALERTS</a:t>
            </a:r>
            <a:endParaRPr b="1" sz="1100">
              <a:solidFill>
                <a:srgbClr val="2563E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56" name="Google Shape;256;p33"/>
          <p:cNvPicPr preferRelativeResize="0"/>
          <p:nvPr/>
        </p:nvPicPr>
        <p:blipFill rotWithShape="1">
          <a:blip r:embed="rId3">
            <a:alphaModFix/>
          </a:blip>
          <a:srcRect b="37461" l="0" r="0" t="37464"/>
          <a:stretch/>
        </p:blipFill>
        <p:spPr>
          <a:xfrm>
            <a:off x="493789" y="1428750"/>
            <a:ext cx="4087500" cy="13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3"/>
          <p:cNvSpPr/>
          <p:nvPr/>
        </p:nvSpPr>
        <p:spPr>
          <a:xfrm>
            <a:off x="411491" y="3034665"/>
            <a:ext cx="4252200" cy="1680300"/>
          </a:xfrm>
          <a:prstGeom prst="roundRect">
            <a:avLst>
              <a:gd fmla="val 68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3"/>
          <p:cNvSpPr txBox="1"/>
          <p:nvPr/>
        </p:nvSpPr>
        <p:spPr>
          <a:xfrm>
            <a:off x="411491" y="3034665"/>
            <a:ext cx="4252200" cy="169200"/>
          </a:xfrm>
          <a:prstGeom prst="rect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OPERATOR CORRUPTION ALERTS (RULE F1)</a:t>
            </a:r>
            <a:endParaRPr b="1" sz="1100">
              <a:solidFill>
                <a:srgbClr val="2563E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59" name="Google Shape;259;p33"/>
          <p:cNvPicPr preferRelativeResize="0"/>
          <p:nvPr/>
        </p:nvPicPr>
        <p:blipFill rotWithShape="1">
          <a:blip r:embed="rId4">
            <a:alphaModFix/>
          </a:blip>
          <a:srcRect b="38598" l="0" r="0" t="38598"/>
          <a:stretch/>
        </p:blipFill>
        <p:spPr>
          <a:xfrm>
            <a:off x="493789" y="3368040"/>
            <a:ext cx="4087500" cy="12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3"/>
          <p:cNvSpPr txBox="1"/>
          <p:nvPr/>
        </p:nvSpPr>
        <p:spPr>
          <a:xfrm>
            <a:off x="4857750" y="1095375"/>
            <a:ext cx="3905400" cy="234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feed</a:t>
            </a:r>
            <a:endParaRPr b="0" sz="2400">
              <a:solidFill>
                <a:srgbClr val="2563E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CONFIDENCE-TAGGED ANOMALIES</a:t>
            </a:r>
            <a:endParaRPr b="1" sz="13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Unified feed surfaces confidence-tagged anomaly alerts for real-time risk assessment.</a:t>
            </a:r>
            <a:endParaRPr b="0"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bolt</a:t>
            </a:r>
            <a:endParaRPr b="0" sz="2400">
              <a:solidFill>
                <a:srgbClr val="2563E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RAPID PRIORITIZATION</a:t>
            </a:r>
            <a:endParaRPr b="1" sz="13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Supports rapid prioritization via fraud type and severity to optimize analyst focus.</a:t>
            </a:r>
            <a:endParaRPr b="0"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33"/>
          <p:cNvSpPr txBox="1"/>
          <p:nvPr/>
        </p:nvSpPr>
        <p:spPr>
          <a:xfrm>
            <a:off x="411491" y="483489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4"/>
          <p:cNvSpPr txBox="1"/>
          <p:nvPr/>
        </p:nvSpPr>
        <p:spPr>
          <a:xfrm>
            <a:off x="411480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Forensic Drill-Down: Operator Audit Workspace</a:t>
            </a:r>
            <a:endParaRPr b="1" sz="32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0" name="Google Shape;270;p34"/>
          <p:cNvSpPr/>
          <p:nvPr/>
        </p:nvSpPr>
        <p:spPr>
          <a:xfrm>
            <a:off x="411480" y="1097280"/>
            <a:ext cx="82983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4"/>
          <p:cNvSpPr txBox="1"/>
          <p:nvPr/>
        </p:nvSpPr>
        <p:spPr>
          <a:xfrm>
            <a:off x="411480" y="1097280"/>
            <a:ext cx="8298300" cy="169200"/>
          </a:xfrm>
          <a:prstGeom prst="rect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txBody>
          <a:bodyPr anchorCtr="0" anchor="ctr" bIns="0" lIns="1905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OPERATOR FORENSIC AUDIT MODAL</a:t>
            </a:r>
            <a:endParaRPr b="1" sz="1100">
              <a:solidFill>
                <a:srgbClr val="2563E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72" name="Google Shape;272;p34"/>
          <p:cNvPicPr preferRelativeResize="0"/>
          <p:nvPr/>
        </p:nvPicPr>
        <p:blipFill rotWithShape="1">
          <a:blip r:embed="rId3">
            <a:alphaModFix/>
          </a:blip>
          <a:srcRect b="19075" l="0" r="0" t="19075"/>
          <a:stretch/>
        </p:blipFill>
        <p:spPr>
          <a:xfrm>
            <a:off x="514350" y="1476375"/>
            <a:ext cx="8092500" cy="31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 txBox="1"/>
          <p:nvPr/>
        </p:nvSpPr>
        <p:spPr>
          <a:xfrm>
            <a:off x="411480" y="483489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5"/>
          <p:cNvSpPr txBox="1"/>
          <p:nvPr/>
        </p:nvSpPr>
        <p:spPr>
          <a:xfrm>
            <a:off x="411491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How Knowledge Graph Improves Fraud Prediction</a:t>
            </a:r>
            <a:endParaRPr b="1" i="0" sz="32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81" name="Google Shape;281;p35"/>
          <p:cNvGrpSpPr/>
          <p:nvPr/>
        </p:nvGrpSpPr>
        <p:grpSpPr>
          <a:xfrm>
            <a:off x="411480" y="1333500"/>
            <a:ext cx="2619300" cy="2667000"/>
            <a:chOff x="411480" y="1333500"/>
            <a:chExt cx="2619300" cy="2667000"/>
          </a:xfrm>
        </p:grpSpPr>
        <p:sp>
          <p:nvSpPr>
            <p:cNvPr id="282" name="Google Shape;282;p35"/>
            <p:cNvSpPr/>
            <p:nvPr/>
          </p:nvSpPr>
          <p:spPr>
            <a:xfrm>
              <a:off x="411480" y="1333500"/>
              <a:ext cx="2619300" cy="26670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5"/>
            <p:cNvSpPr txBox="1"/>
            <p:nvPr/>
          </p:nvSpPr>
          <p:spPr>
            <a:xfrm>
              <a:off x="411480" y="1333500"/>
              <a:ext cx="2619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highlight>
                    <a:srgbClr val="2563EB"/>
                  </a:highlight>
                  <a:latin typeface="Oswald"/>
                  <a:ea typeface="Oswald"/>
                  <a:cs typeface="Oswald"/>
                  <a:sym typeface="Oswald"/>
                </a:rPr>
                <a:t>GRAPH FEATURES</a:t>
              </a:r>
              <a:endParaRPr b="1" sz="1100">
                <a:solidFill>
                  <a:srgbClr val="2563EB"/>
                </a:solidFill>
                <a:highlight>
                  <a:srgbClr val="2563EB"/>
                </a:highlight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84" name="Google Shape;284;p35"/>
            <p:cNvSpPr txBox="1"/>
            <p:nvPr/>
          </p:nvSpPr>
          <p:spPr>
            <a:xfrm>
              <a:off x="554355" y="1714500"/>
              <a:ext cx="23337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Network Intelligence</a:t>
              </a:r>
              <a:endParaRPr b="1"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Duplicate edges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DOB clusters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Shared identity hubs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1E293B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Operator anomaly rates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5" name="Google Shape;285;p35"/>
          <p:cNvGrpSpPr/>
          <p:nvPr/>
        </p:nvGrpSpPr>
        <p:grpSpPr>
          <a:xfrm>
            <a:off x="3262313" y="1333500"/>
            <a:ext cx="2619300" cy="2667000"/>
            <a:chOff x="3262313" y="1333500"/>
            <a:chExt cx="2619300" cy="2667000"/>
          </a:xfrm>
        </p:grpSpPr>
        <p:sp>
          <p:nvSpPr>
            <p:cNvPr id="286" name="Google Shape;286;p35"/>
            <p:cNvSpPr/>
            <p:nvPr/>
          </p:nvSpPr>
          <p:spPr>
            <a:xfrm>
              <a:off x="3262313" y="1333500"/>
              <a:ext cx="2619300" cy="26670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5"/>
            <p:cNvSpPr txBox="1"/>
            <p:nvPr/>
          </p:nvSpPr>
          <p:spPr>
            <a:xfrm>
              <a:off x="3262313" y="1333500"/>
              <a:ext cx="2619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highlight>
                    <a:srgbClr val="2563EB"/>
                  </a:highlight>
                  <a:latin typeface="Oswald"/>
                  <a:ea typeface="Oswald"/>
                  <a:cs typeface="Oswald"/>
                  <a:sym typeface="Oswald"/>
                </a:rPr>
                <a:t>METHODOLOGY</a:t>
              </a:r>
              <a:endParaRPr b="1" sz="1100">
                <a:solidFill>
                  <a:srgbClr val="2563EB"/>
                </a:solidFill>
                <a:highlight>
                  <a:srgbClr val="2563EB"/>
                </a:highlight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88" name="Google Shape;288;p35"/>
            <p:cNvSpPr txBox="1"/>
            <p:nvPr/>
          </p:nvSpPr>
          <p:spPr>
            <a:xfrm>
              <a:off x="3405188" y="1714500"/>
              <a:ext cx="23337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Risk Estimation</a:t>
              </a:r>
              <a:endParaRPr b="1"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Graph-enhanced risk estimation replaces opaque black-box scoring.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89" name="Google Shape;289;p35"/>
          <p:cNvGrpSpPr/>
          <p:nvPr/>
        </p:nvGrpSpPr>
        <p:grpSpPr>
          <a:xfrm>
            <a:off x="6113145" y="1333500"/>
            <a:ext cx="2619300" cy="2667000"/>
            <a:chOff x="6113145" y="1333500"/>
            <a:chExt cx="2619300" cy="2667000"/>
          </a:xfrm>
        </p:grpSpPr>
        <p:sp>
          <p:nvSpPr>
            <p:cNvPr id="290" name="Google Shape;290;p35"/>
            <p:cNvSpPr/>
            <p:nvPr/>
          </p:nvSpPr>
          <p:spPr>
            <a:xfrm>
              <a:off x="6113145" y="1333500"/>
              <a:ext cx="2619300" cy="26670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5"/>
            <p:cNvSpPr txBox="1"/>
            <p:nvPr/>
          </p:nvSpPr>
          <p:spPr>
            <a:xfrm>
              <a:off x="6113145" y="1333500"/>
              <a:ext cx="2619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highlight>
                    <a:srgbClr val="2563EB"/>
                  </a:highlight>
                  <a:latin typeface="Oswald"/>
                  <a:ea typeface="Oswald"/>
                  <a:cs typeface="Oswald"/>
                  <a:sym typeface="Oswald"/>
                </a:rPr>
                <a:t>BUSINESS RESULT</a:t>
              </a:r>
              <a:endParaRPr b="1" sz="1100">
                <a:solidFill>
                  <a:srgbClr val="2563EB"/>
                </a:solidFill>
                <a:highlight>
                  <a:srgbClr val="2563EB"/>
                </a:highlight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92" name="Google Shape;292;p35"/>
            <p:cNvSpPr txBox="1"/>
            <p:nvPr/>
          </p:nvSpPr>
          <p:spPr>
            <a:xfrm>
              <a:off x="6256020" y="1714500"/>
              <a:ext cx="23337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Efficiency &amp; Clarity</a:t>
              </a:r>
              <a:endParaRPr b="1"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Stronger precision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Better explainability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1E293B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Lower false-positive operational burden</a:t>
              </a:r>
              <a:endParaRPr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93" name="Google Shape;293;p35"/>
          <p:cNvSpPr txBox="1"/>
          <p:nvPr/>
        </p:nvSpPr>
        <p:spPr>
          <a:xfrm>
            <a:off x="411491" y="483489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i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6"/>
          <p:cNvSpPr txBox="1"/>
          <p:nvPr/>
        </p:nvSpPr>
        <p:spPr>
          <a:xfrm>
            <a:off x="411480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Operational Decision Flow</a:t>
            </a:r>
            <a:endParaRPr b="1" sz="32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0" name="Google Shape;300;p36"/>
          <p:cNvSpPr/>
          <p:nvPr/>
        </p:nvSpPr>
        <p:spPr>
          <a:xfrm>
            <a:off x="41148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b="1" sz="1000">
              <a:solidFill>
                <a:srgbClr val="2563EB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Alert</a:t>
            </a:r>
            <a:endParaRPr b="1" sz="11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Real-time detection of suspicious anomalies.</a:t>
            </a:r>
            <a:endParaRPr b="0" sz="9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36"/>
          <p:cNvSpPr/>
          <p:nvPr/>
        </p:nvSpPr>
        <p:spPr>
          <a:xfrm>
            <a:off x="184023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b="1" sz="1000">
              <a:solidFill>
                <a:srgbClr val="2563EB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Evidence</a:t>
            </a:r>
            <a:endParaRPr b="1" sz="11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Trace KG entity topology and evidence paths.</a:t>
            </a:r>
            <a:endParaRPr b="0" sz="9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6"/>
          <p:cNvSpPr/>
          <p:nvPr/>
        </p:nvSpPr>
        <p:spPr>
          <a:xfrm>
            <a:off x="326898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b="1" sz="1000">
              <a:solidFill>
                <a:srgbClr val="2563EB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Triage</a:t>
            </a:r>
            <a:endParaRPr b="1" sz="11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Rapid prioritization based on risk severity.</a:t>
            </a:r>
            <a:endParaRPr b="0" sz="9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469773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b="1" sz="1000">
              <a:solidFill>
                <a:srgbClr val="2563EB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Assign</a:t>
            </a:r>
            <a:endParaRPr b="1" sz="11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Operational assignment to field audit teams.</a:t>
            </a:r>
            <a:endParaRPr b="0" sz="9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36"/>
          <p:cNvSpPr/>
          <p:nvPr/>
        </p:nvSpPr>
        <p:spPr>
          <a:xfrm>
            <a:off x="612648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05</a:t>
            </a:r>
            <a:endParaRPr b="1" sz="1000">
              <a:solidFill>
                <a:srgbClr val="2563EB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Field</a:t>
            </a:r>
            <a:endParaRPr b="1" sz="11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Physical verification and operator forensic audit.</a:t>
            </a:r>
            <a:endParaRPr b="0" sz="9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36"/>
          <p:cNvSpPr/>
          <p:nvPr/>
        </p:nvSpPr>
        <p:spPr>
          <a:xfrm>
            <a:off x="755523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  <a:endParaRPr b="1" sz="1000">
              <a:solidFill>
                <a:srgbClr val="2563EB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Close</a:t>
            </a:r>
            <a:endParaRPr b="1" sz="11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Final workflow closure or further escalation.</a:t>
            </a:r>
            <a:endParaRPr b="0" sz="9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411491" y="4834890"/>
            <a:ext cx="8298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Advance-RAG | KG Fraud Intelligence</a:t>
            </a:r>
            <a:endParaRPr sz="1100"/>
          </a:p>
        </p:txBody>
      </p:sp>
      <p:pic>
        <p:nvPicPr>
          <p:cNvPr id="307" name="Google Shape;3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25" y="2233613"/>
            <a:ext cx="1761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6575" y="2233613"/>
            <a:ext cx="1761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5325" y="2233613"/>
            <a:ext cx="1761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4075" y="2233613"/>
            <a:ext cx="1761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2825" y="2233613"/>
            <a:ext cx="176100" cy="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6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7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7"/>
          <p:cNvSpPr txBox="1"/>
          <p:nvPr/>
        </p:nvSpPr>
        <p:spPr>
          <a:xfrm>
            <a:off x="411480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What Users and Leadership Get</a:t>
            </a:r>
            <a:endParaRPr b="1" sz="32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20" name="Google Shape;320;p37"/>
          <p:cNvGrpSpPr/>
          <p:nvPr/>
        </p:nvGrpSpPr>
        <p:grpSpPr>
          <a:xfrm>
            <a:off x="411480" y="1143000"/>
            <a:ext cx="8320965" cy="3238500"/>
            <a:chOff x="411480" y="1143000"/>
            <a:chExt cx="8320965" cy="3238500"/>
          </a:xfrm>
        </p:grpSpPr>
        <p:sp>
          <p:nvSpPr>
            <p:cNvPr id="321" name="Google Shape;321;p37"/>
            <p:cNvSpPr/>
            <p:nvPr/>
          </p:nvSpPr>
          <p:spPr>
            <a:xfrm>
              <a:off x="411480" y="1143000"/>
              <a:ext cx="2619300" cy="32385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7"/>
            <p:cNvSpPr/>
            <p:nvPr/>
          </p:nvSpPr>
          <p:spPr>
            <a:xfrm>
              <a:off x="411480" y="1143000"/>
              <a:ext cx="2619300" cy="285900"/>
            </a:xfrm>
            <a:prstGeom prst="roundRect">
              <a:avLst>
                <a:gd fmla="val 4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7"/>
            <p:cNvSpPr/>
            <p:nvPr/>
          </p:nvSpPr>
          <p:spPr>
            <a:xfrm>
              <a:off x="411480" y="1285875"/>
              <a:ext cx="2619300" cy="142800"/>
            </a:xfrm>
            <a:prstGeom prst="rect">
              <a:avLst/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7"/>
            <p:cNvSpPr txBox="1"/>
            <p:nvPr/>
          </p:nvSpPr>
          <p:spPr>
            <a:xfrm>
              <a:off x="411480" y="1143000"/>
              <a:ext cx="261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INVESTIGATORS</a:t>
              </a:r>
              <a:endParaRPr b="1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25" name="Google Shape;325;p37"/>
            <p:cNvSpPr txBox="1"/>
            <p:nvPr/>
          </p:nvSpPr>
          <p:spPr>
            <a:xfrm>
              <a:off x="554355" y="1571625"/>
              <a:ext cx="2333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Grounded Intelligence</a:t>
              </a:r>
              <a:endParaRPr b="1" sz="110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Explainable evidence paths</a:t>
              </a:r>
              <a:endParaRPr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Faster case triage</a:t>
              </a:r>
              <a:endParaRPr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Unified investigative narratives</a:t>
              </a:r>
              <a:endParaRPr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3262313" y="1143000"/>
              <a:ext cx="2619300" cy="32385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7"/>
            <p:cNvSpPr/>
            <p:nvPr/>
          </p:nvSpPr>
          <p:spPr>
            <a:xfrm>
              <a:off x="3262313" y="1143000"/>
              <a:ext cx="2619300" cy="285900"/>
            </a:xfrm>
            <a:prstGeom prst="roundRect">
              <a:avLst>
                <a:gd fmla="val 4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7"/>
            <p:cNvSpPr/>
            <p:nvPr/>
          </p:nvSpPr>
          <p:spPr>
            <a:xfrm>
              <a:off x="3262313" y="1285875"/>
              <a:ext cx="2619300" cy="142800"/>
            </a:xfrm>
            <a:prstGeom prst="rect">
              <a:avLst/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7"/>
            <p:cNvSpPr txBox="1"/>
            <p:nvPr/>
          </p:nvSpPr>
          <p:spPr>
            <a:xfrm>
              <a:off x="3262313" y="1143000"/>
              <a:ext cx="261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PROGRAM TEAMS</a:t>
              </a:r>
              <a:endParaRPr b="1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30" name="Google Shape;330;p37"/>
            <p:cNvSpPr txBox="1"/>
            <p:nvPr/>
          </p:nvSpPr>
          <p:spPr>
            <a:xfrm>
              <a:off x="3405188" y="1571625"/>
              <a:ext cx="2333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Operational Oversight</a:t>
              </a:r>
              <a:endParaRPr b="1" sz="110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District-level risk visibility</a:t>
              </a:r>
              <a:endParaRPr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Operator-level risk analytics</a:t>
              </a:r>
              <a:endParaRPr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Last-mile targeting distribution</a:t>
              </a:r>
              <a:endParaRPr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1" name="Google Shape;331;p37"/>
            <p:cNvSpPr/>
            <p:nvPr/>
          </p:nvSpPr>
          <p:spPr>
            <a:xfrm>
              <a:off x="6113145" y="1143000"/>
              <a:ext cx="2619300" cy="32385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6113145" y="1143000"/>
              <a:ext cx="2619300" cy="285900"/>
            </a:xfrm>
            <a:prstGeom prst="roundRect">
              <a:avLst>
                <a:gd fmla="val 4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7"/>
            <p:cNvSpPr/>
            <p:nvPr/>
          </p:nvSpPr>
          <p:spPr>
            <a:xfrm>
              <a:off x="6113145" y="1285875"/>
              <a:ext cx="2619300" cy="142800"/>
            </a:xfrm>
            <a:prstGeom prst="rect">
              <a:avLst/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7"/>
            <p:cNvSpPr txBox="1"/>
            <p:nvPr/>
          </p:nvSpPr>
          <p:spPr>
            <a:xfrm>
              <a:off x="6113145" y="1143000"/>
              <a:ext cx="261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LEADERSHIP KPIs</a:t>
              </a:r>
              <a:endParaRPr b="1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35" name="Google Shape;335;p37"/>
            <p:cNvSpPr txBox="1"/>
            <p:nvPr/>
          </p:nvSpPr>
          <p:spPr>
            <a:xfrm>
              <a:off x="6256020" y="1571625"/>
              <a:ext cx="2333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Performance Metrics</a:t>
              </a:r>
              <a:endParaRPr b="1" sz="110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F172A"/>
                </a:buClr>
                <a:buSzPts val="1000"/>
                <a:buFont typeface="Roboto"/>
                <a:buChar char="●"/>
              </a:pPr>
              <a:r>
                <a:rPr lang="en" sz="10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Precision &amp; False-Positive Rate</a:t>
              </a:r>
              <a:endParaRPr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1000"/>
                <a:buFont typeface="Roboto"/>
                <a:buChar char="●"/>
              </a:pPr>
              <a:r>
                <a:rPr lang="en" sz="10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Time-to-triage</a:t>
              </a:r>
              <a:endParaRPr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1000"/>
                <a:buFont typeface="Roboto"/>
                <a:buChar char="●"/>
              </a:pPr>
              <a:r>
                <a:rPr lang="en" sz="10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SLA closure speed</a:t>
              </a:r>
              <a:endParaRPr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1000"/>
                <a:buFont typeface="Roboto"/>
                <a:buChar char="●"/>
              </a:pPr>
              <a:r>
                <a:rPr lang="en" sz="10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Platform reliability</a:t>
              </a:r>
              <a:endParaRPr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336" name="Google Shape;336;p37"/>
          <p:cNvSpPr txBox="1"/>
          <p:nvPr/>
        </p:nvSpPr>
        <p:spPr>
          <a:xfrm>
            <a:off x="411480" y="483489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8"/>
          <p:cNvSpPr txBox="1"/>
          <p:nvPr/>
        </p:nvSpPr>
        <p:spPr>
          <a:xfrm>
            <a:off x="67625" y="157125"/>
            <a:ext cx="49977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444746"/>
                </a:solidFill>
                <a:highlight>
                  <a:srgbClr val="FFFFFF"/>
                </a:highlight>
                <a:latin typeface="Oswald"/>
                <a:ea typeface="Oswald"/>
                <a:cs typeface="Oswald"/>
                <a:sym typeface="Oswald"/>
              </a:rPr>
              <a:t>Architecture Flow</a:t>
            </a:r>
            <a:endParaRPr b="1"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42" name="Google Shape;342;p38" title="Screenshot 2026-04-20 1446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5" y="1075000"/>
            <a:ext cx="9076375" cy="37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9"/>
          <p:cNvSpPr txBox="1"/>
          <p:nvPr/>
        </p:nvSpPr>
        <p:spPr>
          <a:xfrm>
            <a:off x="409575" y="238125"/>
            <a:ext cx="832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Discovery &amp; Configuration Questionnaire</a:t>
            </a:r>
            <a:endParaRPr b="1" sz="32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49" name="Google Shape;349;p39"/>
          <p:cNvGrpSpPr/>
          <p:nvPr/>
        </p:nvGrpSpPr>
        <p:grpSpPr>
          <a:xfrm>
            <a:off x="409575" y="952500"/>
            <a:ext cx="4048200" cy="1190700"/>
            <a:chOff x="409575" y="952500"/>
            <a:chExt cx="4048200" cy="1190700"/>
          </a:xfrm>
        </p:grpSpPr>
        <p:sp>
          <p:nvSpPr>
            <p:cNvPr id="350" name="Google Shape;350;p39"/>
            <p:cNvSpPr/>
            <p:nvPr/>
          </p:nvSpPr>
          <p:spPr>
            <a:xfrm>
              <a:off x="409575" y="952500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9"/>
            <p:cNvSpPr txBox="1"/>
            <p:nvPr/>
          </p:nvSpPr>
          <p:spPr>
            <a:xfrm>
              <a:off x="552450" y="1000125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1. BUSINESS OUTCOMES</a:t>
              </a:r>
              <a:endParaRPr b="1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Priority fraud patterns for this quarter?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Primary Cost Driver: False Positives vs. Negatives?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Key KPI: Leakage, Audit Speed, or Accuracy?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Target metric for 90-day success?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2" name="Google Shape;352;p39"/>
          <p:cNvGrpSpPr/>
          <p:nvPr/>
        </p:nvGrpSpPr>
        <p:grpSpPr>
          <a:xfrm>
            <a:off x="4686300" y="952500"/>
            <a:ext cx="4048200" cy="1190700"/>
            <a:chOff x="4686300" y="952500"/>
            <a:chExt cx="4048200" cy="1190700"/>
          </a:xfrm>
        </p:grpSpPr>
        <p:sp>
          <p:nvSpPr>
            <p:cNvPr id="353" name="Google Shape;353;p39"/>
            <p:cNvSpPr/>
            <p:nvPr/>
          </p:nvSpPr>
          <p:spPr>
            <a:xfrm>
              <a:off x="4686300" y="952500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9"/>
            <p:cNvSpPr txBox="1"/>
            <p:nvPr/>
          </p:nvSpPr>
          <p:spPr>
            <a:xfrm>
              <a:off x="4829175" y="1000125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2. DECISION POLICY</a:t>
              </a:r>
              <a:endParaRPr b="1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Min confidence threshold for escalation?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Multi-signal confirmation requirements?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Policy Actions: Monitor, Investigate, Suspend?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Final approver for high-severity actions?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5" name="Google Shape;355;p39"/>
          <p:cNvGrpSpPr/>
          <p:nvPr/>
        </p:nvGrpSpPr>
        <p:grpSpPr>
          <a:xfrm>
            <a:off x="409575" y="2238375"/>
            <a:ext cx="4048200" cy="1190700"/>
            <a:chOff x="409575" y="2238375"/>
            <a:chExt cx="4048200" cy="1190700"/>
          </a:xfrm>
        </p:grpSpPr>
        <p:sp>
          <p:nvSpPr>
            <p:cNvPr id="356" name="Google Shape;356;p39"/>
            <p:cNvSpPr/>
            <p:nvPr/>
          </p:nvSpPr>
          <p:spPr>
            <a:xfrm>
              <a:off x="409575" y="2238375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9"/>
            <p:cNvSpPr txBox="1"/>
            <p:nvPr/>
          </p:nvSpPr>
          <p:spPr>
            <a:xfrm>
              <a:off x="552450" y="2286000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3. DATA REPRESENTATION</a:t>
              </a:r>
              <a:endParaRPr b="1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Is dump representative of production env?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Data trust levels (Trusted vs. Noisy)?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Source-of-truth for eligibility &amp; policy?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Delta/CDC update capability?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8" name="Google Shape;358;p39"/>
          <p:cNvGrpSpPr/>
          <p:nvPr/>
        </p:nvGrpSpPr>
        <p:grpSpPr>
          <a:xfrm>
            <a:off x="4686300" y="2238375"/>
            <a:ext cx="4048200" cy="1190700"/>
            <a:chOff x="4686300" y="2238375"/>
            <a:chExt cx="4048200" cy="1190700"/>
          </a:xfrm>
        </p:grpSpPr>
        <p:sp>
          <p:nvSpPr>
            <p:cNvPr id="359" name="Google Shape;359;p39"/>
            <p:cNvSpPr/>
            <p:nvPr/>
          </p:nvSpPr>
          <p:spPr>
            <a:xfrm>
              <a:off x="4686300" y="2238375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9"/>
            <p:cNvSpPr txBox="1"/>
            <p:nvPr/>
          </p:nvSpPr>
          <p:spPr>
            <a:xfrm>
              <a:off x="4829175" y="2286000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4. GOVERNANCE &amp; PRIVACY</a:t>
              </a:r>
              <a:endParaRPr b="1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RBAC PII masking requirements?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Required alert &amp; case log retention period?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Social/Grievance data cross-linking rules?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Mandatory regulatory reporting formats?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1" name="Google Shape;361;p39"/>
          <p:cNvGrpSpPr/>
          <p:nvPr/>
        </p:nvGrpSpPr>
        <p:grpSpPr>
          <a:xfrm>
            <a:off x="409575" y="3524250"/>
            <a:ext cx="4048200" cy="1190700"/>
            <a:chOff x="409575" y="3524250"/>
            <a:chExt cx="4048200" cy="1190700"/>
          </a:xfrm>
        </p:grpSpPr>
        <p:sp>
          <p:nvSpPr>
            <p:cNvPr id="362" name="Google Shape;362;p39"/>
            <p:cNvSpPr/>
            <p:nvPr/>
          </p:nvSpPr>
          <p:spPr>
            <a:xfrm>
              <a:off x="409575" y="3524250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9"/>
            <p:cNvSpPr txBox="1"/>
            <p:nvPr/>
          </p:nvSpPr>
          <p:spPr>
            <a:xfrm>
              <a:off x="552450" y="3571875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5. OPERATIONAL WORKFLOW</a:t>
              </a:r>
              <a:endParaRPr b="1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Daily alert triage ownership?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Team capacity vs. expected alert load?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SLA: Time-to-triage &amp; Time-to-closure?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Feedback loop for false positives?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4" name="Google Shape;364;p39"/>
          <p:cNvGrpSpPr/>
          <p:nvPr/>
        </p:nvGrpSpPr>
        <p:grpSpPr>
          <a:xfrm>
            <a:off x="4686300" y="3524250"/>
            <a:ext cx="4048200" cy="1190700"/>
            <a:chOff x="4686300" y="3524250"/>
            <a:chExt cx="4048200" cy="1190700"/>
          </a:xfrm>
        </p:grpSpPr>
        <p:sp>
          <p:nvSpPr>
            <p:cNvPr id="365" name="Google Shape;365;p39"/>
            <p:cNvSpPr/>
            <p:nvPr/>
          </p:nvSpPr>
          <p:spPr>
            <a:xfrm>
              <a:off x="4686300" y="3524250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9"/>
            <p:cNvSpPr txBox="1"/>
            <p:nvPr/>
          </p:nvSpPr>
          <p:spPr>
            <a:xfrm>
              <a:off x="4829175" y="3571875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6. FRONTEND &amp; UX</a:t>
              </a:r>
              <a:endParaRPr b="1" sz="110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Must-have: Dashboard, Queue, Geo View?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Mandatory Exports: CSV, PDF, Summary?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Critical Filter criteria (District, Severity)?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• Language &amp; Localization requirements?</a:t>
              </a:r>
              <a:endParaRPr sz="9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67" name="Google Shape;367;p39"/>
          <p:cNvSpPr txBox="1"/>
          <p:nvPr/>
        </p:nvSpPr>
        <p:spPr>
          <a:xfrm>
            <a:off x="409575" y="4810125"/>
            <a:ext cx="8325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Client Discovery Questionnaire</a:t>
            </a:r>
            <a:endParaRPr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0"/>
          <p:cNvSpPr txBox="1"/>
          <p:nvPr/>
        </p:nvSpPr>
        <p:spPr>
          <a:xfrm>
            <a:off x="411480" y="428625"/>
            <a:ext cx="8321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Summary &amp; Closing Statement</a:t>
            </a:r>
            <a:endParaRPr b="1" sz="3600">
              <a:solidFill>
                <a:srgbClr val="0F17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74" name="Google Shape;374;p40"/>
          <p:cNvGrpSpPr/>
          <p:nvPr/>
        </p:nvGrpSpPr>
        <p:grpSpPr>
          <a:xfrm>
            <a:off x="411480" y="1524000"/>
            <a:ext cx="8321100" cy="1143000"/>
            <a:chOff x="411480" y="1524000"/>
            <a:chExt cx="8321100" cy="1143000"/>
          </a:xfrm>
        </p:grpSpPr>
        <p:sp>
          <p:nvSpPr>
            <p:cNvPr id="375" name="Google Shape;375;p40"/>
            <p:cNvSpPr/>
            <p:nvPr/>
          </p:nvSpPr>
          <p:spPr>
            <a:xfrm>
              <a:off x="411480" y="1524000"/>
              <a:ext cx="83211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0"/>
            <p:cNvSpPr txBox="1"/>
            <p:nvPr/>
          </p:nvSpPr>
          <p:spPr>
            <a:xfrm>
              <a:off x="411480" y="1524000"/>
              <a:ext cx="8321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85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CORE INTELLIGENCE LAYER</a:t>
              </a:r>
              <a:endParaRPr b="1" sz="1085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9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Advance-RAG uses </a:t>
              </a:r>
              <a:r>
                <a:rPr b="1" lang="en" sz="139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Knowledge Graph</a:t>
              </a:r>
              <a:r>
                <a:rPr b="0" lang="en" sz="139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 as the core explainable intelligence layer for fraud operations.</a:t>
              </a:r>
              <a:endParaRPr b="0" sz="1395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7" name="Google Shape;377;p40"/>
          <p:cNvGrpSpPr/>
          <p:nvPr/>
        </p:nvGrpSpPr>
        <p:grpSpPr>
          <a:xfrm>
            <a:off x="411480" y="2857500"/>
            <a:ext cx="8321100" cy="1143000"/>
            <a:chOff x="411480" y="2857500"/>
            <a:chExt cx="8321100" cy="1143000"/>
          </a:xfrm>
        </p:grpSpPr>
        <p:sp>
          <p:nvSpPr>
            <p:cNvPr id="378" name="Google Shape;378;p40"/>
            <p:cNvSpPr/>
            <p:nvPr/>
          </p:nvSpPr>
          <p:spPr>
            <a:xfrm>
              <a:off x="411480" y="2857500"/>
              <a:ext cx="83211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0"/>
            <p:cNvSpPr txBox="1"/>
            <p:nvPr/>
          </p:nvSpPr>
          <p:spPr>
            <a:xfrm>
              <a:off x="411480" y="2857500"/>
              <a:ext cx="8321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UNIFIED WORKFLOW</a:t>
              </a:r>
              <a:endParaRPr b="1" sz="1295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6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The platform unifies </a:t>
              </a:r>
              <a:r>
                <a:rPr b="1" lang="en" sz="166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detection</a:t>
              </a:r>
              <a:r>
                <a:rPr b="0" lang="en" sz="166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b="1" lang="en" sz="166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visualization</a:t>
              </a:r>
              <a:r>
                <a:rPr b="0" lang="en" sz="166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, and </a:t>
              </a:r>
              <a:r>
                <a:rPr b="1" lang="en" sz="166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field-audit action</a:t>
              </a:r>
              <a:r>
                <a:rPr b="0" lang="en" sz="166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 in one workflow.</a:t>
              </a:r>
              <a:endParaRPr b="0" sz="1665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0" name="Google Shape;380;p40"/>
          <p:cNvSpPr txBox="1"/>
          <p:nvPr/>
        </p:nvSpPr>
        <p:spPr>
          <a:xfrm>
            <a:off x="411480" y="4762500"/>
            <a:ext cx="8321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Knowledge Graph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