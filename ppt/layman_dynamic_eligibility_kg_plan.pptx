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 b="1">
                <a:solidFill>
                  <a:srgbClr val="182954"/>
                </a:solidFill>
              </a:defRPr>
            </a:pPr>
            <a:r>
              <a:t>Dynamic Eligibility &amp; Knowledge Graph Plan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0F766E"/>
                </a:solidFill>
              </a:defRPr>
            </a:pPr>
            <a:r>
              <a:t>Layman-Friendly Overview for Inclusion/Exclusion, Audit, and Data Safety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182954"/>
                </a:solidFill>
              </a:defRPr>
            </a:pPr>
            <a:r>
              <a:t>1)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12529"/>
                </a:solidFill>
              </a:defRPr>
            </a:pPr>
            <a:r>
              <a:t>Wrong inclusion: ineligible person receives scheme benefit.</a:t>
            </a:r>
          </a:p>
          <a:p>
            <a:pPr>
              <a:defRPr sz="2200">
                <a:solidFill>
                  <a:srgbClr val="212529"/>
                </a:solidFill>
              </a:defRPr>
            </a:pPr>
            <a:r>
              <a:t>Wrong exclusion: eligible person is missing from the scheme.</a:t>
            </a:r>
          </a:p>
          <a:p>
            <a:pPr>
              <a:defRPr sz="2200">
                <a:solidFill>
                  <a:srgbClr val="212529"/>
                </a:solidFill>
              </a:defRPr>
            </a:pPr>
            <a:r>
              <a:t>Manual checking is slow, inconsistent, and hard to explain.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182954"/>
                </a:solidFill>
              </a:defRPr>
            </a:pPr>
            <a:r>
              <a:t>End-to-End Flow (Simple)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828800"/>
            <a:ext cx="1828800" cy="914400"/>
          </a:xfrm>
          <a:prstGeom prst="rect">
            <a:avLst/>
          </a:prstGeom>
          <a:solidFill>
            <a:srgbClr val="E8F5F3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11827"/>
                </a:solidFill>
              </a:defRPr>
            </a:pPr>
            <a:r>
              <a:t>Policy Docs</a:t>
            </a:r>
          </a:p>
        </p:txBody>
      </p:sp>
      <p:sp>
        <p:nvSpPr>
          <p:cNvPr id="4" name="Can 3"/>
          <p:cNvSpPr/>
          <p:nvPr/>
        </p:nvSpPr>
        <p:spPr>
          <a:xfrm>
            <a:off x="2286000" y="2148840"/>
            <a:ext cx="182880" cy="274320"/>
          </a:xfrm>
          <a:prstGeom prst="can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468880" y="1828800"/>
            <a:ext cx="1828800" cy="914400"/>
          </a:xfrm>
          <a:prstGeom prst="rect">
            <a:avLst/>
          </a:prstGeom>
          <a:solidFill>
            <a:srgbClr val="E8F5F3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11827"/>
                </a:solidFill>
              </a:defRPr>
            </a:pPr>
            <a:r>
              <a:t>Rule Extraction</a:t>
            </a:r>
          </a:p>
        </p:txBody>
      </p:sp>
      <p:sp>
        <p:nvSpPr>
          <p:cNvPr id="6" name="Can 5"/>
          <p:cNvSpPr/>
          <p:nvPr/>
        </p:nvSpPr>
        <p:spPr>
          <a:xfrm>
            <a:off x="4297680" y="2148840"/>
            <a:ext cx="182880" cy="274320"/>
          </a:xfrm>
          <a:prstGeom prst="can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480560" y="1828800"/>
            <a:ext cx="1828800" cy="914400"/>
          </a:xfrm>
          <a:prstGeom prst="rect">
            <a:avLst/>
          </a:prstGeom>
          <a:solidFill>
            <a:srgbClr val="E8F5F3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11827"/>
                </a:solidFill>
              </a:defRPr>
            </a:pPr>
            <a:r>
              <a:t>Citizen 360 +</a:t>
            </a:r>
            <a:br/>
            <a:r>
              <a:t>Identity Match</a:t>
            </a:r>
          </a:p>
        </p:txBody>
      </p:sp>
      <p:sp>
        <p:nvSpPr>
          <p:cNvPr id="8" name="Can 7"/>
          <p:cNvSpPr/>
          <p:nvPr/>
        </p:nvSpPr>
        <p:spPr>
          <a:xfrm>
            <a:off x="6309360" y="2148840"/>
            <a:ext cx="182880" cy="274320"/>
          </a:xfrm>
          <a:prstGeom prst="can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92240" y="1828800"/>
            <a:ext cx="1828800" cy="914400"/>
          </a:xfrm>
          <a:prstGeom prst="rect">
            <a:avLst/>
          </a:prstGeom>
          <a:solidFill>
            <a:srgbClr val="E8F5F3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11827"/>
                </a:solidFill>
              </a:defRPr>
            </a:pPr>
            <a:r>
              <a:t>Eligibility Check</a:t>
            </a:r>
          </a:p>
        </p:txBody>
      </p:sp>
      <p:sp>
        <p:nvSpPr>
          <p:cNvPr id="10" name="Can 9"/>
          <p:cNvSpPr/>
          <p:nvPr/>
        </p:nvSpPr>
        <p:spPr>
          <a:xfrm>
            <a:off x="8321040" y="2148840"/>
            <a:ext cx="182880" cy="274320"/>
          </a:xfrm>
          <a:prstGeom prst="can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03920" y="1828800"/>
            <a:ext cx="1828800" cy="914400"/>
          </a:xfrm>
          <a:prstGeom prst="rect">
            <a:avLst/>
          </a:prstGeom>
          <a:solidFill>
            <a:srgbClr val="E8F5F3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11827"/>
                </a:solidFill>
              </a:defRPr>
            </a:pPr>
            <a:r>
              <a:t>Knowledge Graph</a:t>
            </a:r>
          </a:p>
        </p:txBody>
      </p:sp>
      <p:sp>
        <p:nvSpPr>
          <p:cNvPr id="12" name="Can 11"/>
          <p:cNvSpPr/>
          <p:nvPr/>
        </p:nvSpPr>
        <p:spPr>
          <a:xfrm>
            <a:off x="10332720" y="2148840"/>
            <a:ext cx="182880" cy="274320"/>
          </a:xfrm>
          <a:prstGeom prst="can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515600" y="1828800"/>
            <a:ext cx="1828800" cy="914400"/>
          </a:xfrm>
          <a:prstGeom prst="rect">
            <a:avLst/>
          </a:prstGeom>
          <a:solidFill>
            <a:srgbClr val="E8F5F3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11827"/>
                </a:solidFill>
              </a:defRPr>
            </a:pPr>
            <a:r>
              <a:t>Dashboard + Audit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749039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12529"/>
                </a:solidFill>
              </a:defRPr>
            </a:pPr>
            <a:r>
              <a:t>Output decisions: Inclusion Error, Exclusion Error, Valid, or Review Required.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182954"/>
                </a:solidFill>
              </a:defRPr>
            </a:pPr>
            <a:r>
              <a:t>2) How Knowledge Graph Helps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12529"/>
                </a:solidFill>
              </a:defRPr>
            </a:pPr>
            <a:r>
              <a:t>Connects citizens, schemes, rules, and alerts in one map.</a:t>
            </a:r>
          </a:p>
          <a:p>
            <a:pPr>
              <a:defRPr sz="2200">
                <a:solidFill>
                  <a:srgbClr val="212529"/>
                </a:solidFill>
              </a:defRPr>
            </a:pPr>
            <a:r>
              <a:t>Shows why a person is flagged with evidence and source rule.</a:t>
            </a:r>
          </a:p>
          <a:p>
            <a:pPr>
              <a:defRPr sz="2200">
                <a:solidFill>
                  <a:srgbClr val="212529"/>
                </a:solidFill>
              </a:defRPr>
            </a:pPr>
            <a:r>
              <a:t>Makes cross-scheme contradictions visible and easy to audit.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182954"/>
                </a:solidFill>
              </a:defRPr>
            </a:pPr>
            <a:r>
              <a:t>3) Dashboard &amp; Audit Offerings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12529"/>
                </a:solidFill>
              </a:defRPr>
            </a:pPr>
            <a:r>
              <a:t>Live KPI view: total checked, inclusion errors, exclusion errors, review queue.</a:t>
            </a:r>
          </a:p>
          <a:p>
            <a:pPr>
              <a:defRPr sz="2200">
                <a:solidFill>
                  <a:srgbClr val="212529"/>
                </a:solidFill>
              </a:defRPr>
            </a:pPr>
            <a:r>
              <a:t>Smart filters: district, block, GP, scheme, rule, confidence.</a:t>
            </a:r>
          </a:p>
          <a:p>
            <a:pPr>
              <a:defRPr sz="2200">
                <a:solidFill>
                  <a:srgbClr val="212529"/>
                </a:solidFill>
              </a:defRPr>
            </a:pPr>
            <a:r>
              <a:t>Case workflow: Open -&gt; Review -&gt; Verified -&gt; Closed/Escalated.</a:t>
            </a:r>
          </a:p>
          <a:p>
            <a:pPr>
              <a:defRPr sz="2200">
                <a:solidFill>
                  <a:srgbClr val="212529"/>
                </a:solidFill>
              </a:defRPr>
            </a:pPr>
            <a:r>
              <a:t>Citizen-level and program-level audit reports.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182954"/>
                </a:solidFill>
              </a:defRPr>
            </a:pPr>
            <a:r>
              <a:t>4) Data Sovereignty and Safety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12529"/>
                </a:solidFill>
              </a:defRPr>
            </a:pPr>
            <a:r>
              <a:t>Use citizen data only for approved welfare purpose.</a:t>
            </a:r>
          </a:p>
          <a:p>
            <a:pPr>
              <a:defRPr sz="2200">
                <a:solidFill>
                  <a:srgbClr val="212529"/>
                </a:solidFill>
              </a:defRPr>
            </a:pPr>
            <a:r>
              <a:t>Restrict access by role and mask sensitive data in UI/exports.</a:t>
            </a:r>
          </a:p>
          <a:p>
            <a:pPr>
              <a:defRPr sz="2200">
                <a:solidFill>
                  <a:srgbClr val="212529"/>
                </a:solidFill>
              </a:defRPr>
            </a:pPr>
            <a:r>
              <a:t>Keep audit logs: who viewed, changed, and closed each case.</a:t>
            </a:r>
          </a:p>
          <a:p>
            <a:pPr>
              <a:defRPr sz="2200">
                <a:solidFill>
                  <a:srgbClr val="212529"/>
                </a:solidFill>
              </a:defRPr>
            </a:pPr>
            <a:r>
              <a:t>Track rule version and evidence for every decision.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182954"/>
                </a:solidFill>
              </a:defRPr>
            </a:pPr>
            <a:r>
              <a:t>5) Final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12529"/>
                </a:solidFill>
              </a:defRPr>
            </a:pPr>
            <a:r>
              <a:t>Faster and fairer scheme delivery with fewer errors.</a:t>
            </a:r>
          </a:p>
          <a:p>
            <a:pPr>
              <a:defRPr sz="2200">
                <a:solidFill>
                  <a:srgbClr val="212529"/>
                </a:solidFill>
              </a:defRPr>
            </a:pPr>
            <a:r>
              <a:t>Explainable red flags for field teams and auditors.</a:t>
            </a:r>
          </a:p>
          <a:p>
            <a:pPr>
              <a:defRPr sz="2200">
                <a:solidFill>
                  <a:srgbClr val="212529"/>
                </a:solidFill>
              </a:defRPr>
            </a:pPr>
            <a:r>
              <a:t>Policy updates handled quickly through dynamic rules.</a:t>
            </a:r>
          </a:p>
          <a:p>
            <a:pPr>
              <a:defRPr sz="2200">
                <a:solidFill>
                  <a:srgbClr val="212529"/>
                </a:solidFill>
              </a:defRPr>
            </a:pPr>
            <a:r>
              <a:t>A trusted, governance-ready welfare intelligence platform.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