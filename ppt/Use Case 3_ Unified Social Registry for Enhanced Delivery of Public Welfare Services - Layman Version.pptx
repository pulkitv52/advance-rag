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1" r:id="rId4"/>
    <p:sldMasterId id="214748367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5143500" cx="9144000"/>
  <p:notesSz cx="6858000" cy="9144000"/>
  <p:embeddedFontLst>
    <p:embeddedFont>
      <p:font typeface="Roboto"/>
      <p:bold r:id="rId22"/>
      <p:boldItalic r:id="rId23"/>
    </p:embeddedFont>
    <p:embeddedFont>
      <p:font typeface="Roboto Light"/>
      <p:regular r:id="rId24"/>
      <p:bold r:id="rId25"/>
      <p:italic r:id="rId26"/>
      <p:boldItalic r:id="rId27"/>
    </p:embeddedFont>
    <p:embeddedFont>
      <p:font typeface="Oswald"/>
      <p:bold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font" Target="fonts/Roboto-bold.fntdata"/><Relationship Id="rId23" Type="http://schemas.openxmlformats.org/officeDocument/2006/relationships/font" Target="fonts/Roboto-boldItalic.fntdata"/><Relationship Id="rId24" Type="http://schemas.openxmlformats.org/officeDocument/2006/relationships/font" Target="fonts/RobotoLight-regular.fntdata"/><Relationship Id="rId25" Type="http://schemas.openxmlformats.org/officeDocument/2006/relationships/font" Target="fonts/RobotoLight-bold.fntdata"/><Relationship Id="rId26" Type="http://schemas.openxmlformats.org/officeDocument/2006/relationships/font" Target="fonts/RobotoLight-italic.fntdata"/><Relationship Id="rId27" Type="http://schemas.openxmlformats.org/officeDocument/2006/relationships/font" Target="fonts/RobotoLight-boldItalic.fntdata"/><Relationship Id="rId28" Type="http://schemas.openxmlformats.org/officeDocument/2006/relationships/font" Target="fonts/Oswald-bold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e01a884665_0_204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e01a884665_11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g3e01a884665_11_84:notes"/>
          <p:cNvSpPr/>
          <p:nvPr>
            <p:ph idx="2" type="sldImg"/>
          </p:nvPr>
        </p:nvSpPr>
        <p:spPr>
          <a:xfrm>
            <a:off x="1143164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e01a884665_11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g3e01a884665_11_91:notes"/>
          <p:cNvSpPr/>
          <p:nvPr>
            <p:ph idx="2" type="sldImg"/>
          </p:nvPr>
        </p:nvSpPr>
        <p:spPr>
          <a:xfrm>
            <a:off x="1143164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e01a884665_11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g3e01a884665_11_108:notes"/>
          <p:cNvSpPr/>
          <p:nvPr>
            <p:ph idx="2" type="sldImg"/>
          </p:nvPr>
        </p:nvSpPr>
        <p:spPr>
          <a:xfrm>
            <a:off x="1143164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e01a884665_11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g3e01a884665_11_115:notes"/>
          <p:cNvSpPr/>
          <p:nvPr>
            <p:ph idx="2" type="sldImg"/>
          </p:nvPr>
        </p:nvSpPr>
        <p:spPr>
          <a:xfrm>
            <a:off x="1143164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e01a884665_11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g3e01a884665_11_125:notes"/>
          <p:cNvSpPr/>
          <p:nvPr>
            <p:ph idx="2" type="sldImg"/>
          </p:nvPr>
        </p:nvSpPr>
        <p:spPr>
          <a:xfrm>
            <a:off x="1143164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e01a884665_11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g3e01a884665_11_138:notes"/>
          <p:cNvSpPr/>
          <p:nvPr>
            <p:ph idx="2" type="sldImg"/>
          </p:nvPr>
        </p:nvSpPr>
        <p:spPr>
          <a:xfrm>
            <a:off x="1143164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e01a884665_11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g3e01a884665_11_151:notes"/>
          <p:cNvSpPr/>
          <p:nvPr>
            <p:ph idx="2" type="sldImg"/>
          </p:nvPr>
        </p:nvSpPr>
        <p:spPr>
          <a:xfrm>
            <a:off x="1143164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e01a884665_11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g3e01a884665_11_160:notes"/>
          <p:cNvSpPr/>
          <p:nvPr>
            <p:ph idx="2" type="sldImg"/>
          </p:nvPr>
        </p:nvSpPr>
        <p:spPr>
          <a:xfrm>
            <a:off x="1143164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e01a884665_11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g3e01a884665_11_167:notes"/>
          <p:cNvSpPr/>
          <p:nvPr>
            <p:ph idx="2" type="sldImg"/>
          </p:nvPr>
        </p:nvSpPr>
        <p:spPr>
          <a:xfrm>
            <a:off x="1143164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e01a884665_11_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g3e01a884665_11_184:notes"/>
          <p:cNvSpPr/>
          <p:nvPr>
            <p:ph idx="2" type="sldImg"/>
          </p:nvPr>
        </p:nvSpPr>
        <p:spPr>
          <a:xfrm>
            <a:off x="1143164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e01a884665_0_32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g3e01a884665_0_32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3e01a884665_0_29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g3e01a884665_0_29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3e01a884665_11_1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g3e01a884665_11_191:notes"/>
          <p:cNvSpPr/>
          <p:nvPr>
            <p:ph idx="2" type="sldImg"/>
          </p:nvPr>
        </p:nvSpPr>
        <p:spPr>
          <a:xfrm>
            <a:off x="1143164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idx="10" type="dt"/>
          </p:nvPr>
        </p:nvSpPr>
        <p:spPr>
          <a:xfrm>
            <a:off x="342909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1" type="ftr"/>
          </p:nvPr>
        </p:nvSpPr>
        <p:spPr>
          <a:xfrm>
            <a:off x="2343212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4915031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ctrTitle"/>
          </p:nvPr>
        </p:nvSpPr>
        <p:spPr>
          <a:xfrm>
            <a:off x="514364" y="1597819"/>
            <a:ext cx="5829600" cy="11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" type="subTitle"/>
          </p:nvPr>
        </p:nvSpPr>
        <p:spPr>
          <a:xfrm>
            <a:off x="1028727" y="2914650"/>
            <a:ext cx="48006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3" name="Google Shape;63;p15"/>
          <p:cNvSpPr txBox="1"/>
          <p:nvPr>
            <p:ph idx="10" type="dt"/>
          </p:nvPr>
        </p:nvSpPr>
        <p:spPr>
          <a:xfrm>
            <a:off x="342909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1" type="ftr"/>
          </p:nvPr>
        </p:nvSpPr>
        <p:spPr>
          <a:xfrm>
            <a:off x="2343212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4915031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title"/>
          </p:nvPr>
        </p:nvSpPr>
        <p:spPr>
          <a:xfrm>
            <a:off x="342909" y="205978"/>
            <a:ext cx="61725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342909" y="1200150"/>
            <a:ext cx="61725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0" type="dt"/>
          </p:nvPr>
        </p:nvSpPr>
        <p:spPr>
          <a:xfrm>
            <a:off x="342909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1" type="ftr"/>
          </p:nvPr>
        </p:nvSpPr>
        <p:spPr>
          <a:xfrm>
            <a:off x="2343212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4915031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>
            <p:ph type="title"/>
          </p:nvPr>
        </p:nvSpPr>
        <p:spPr>
          <a:xfrm>
            <a:off x="541749" y="3305175"/>
            <a:ext cx="5829600" cy="10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  <a:defRPr b="1" sz="3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" type="body"/>
          </p:nvPr>
        </p:nvSpPr>
        <p:spPr>
          <a:xfrm>
            <a:off x="541749" y="2180035"/>
            <a:ext cx="5829600" cy="1125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5" name="Google Shape;75;p17"/>
          <p:cNvSpPr txBox="1"/>
          <p:nvPr>
            <p:ph idx="10" type="dt"/>
          </p:nvPr>
        </p:nvSpPr>
        <p:spPr>
          <a:xfrm>
            <a:off x="342909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1" type="ftr"/>
          </p:nvPr>
        </p:nvSpPr>
        <p:spPr>
          <a:xfrm>
            <a:off x="2343212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4915031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342909" y="205978"/>
            <a:ext cx="61725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" type="body"/>
          </p:nvPr>
        </p:nvSpPr>
        <p:spPr>
          <a:xfrm>
            <a:off x="342909" y="1200150"/>
            <a:ext cx="30291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81" name="Google Shape;81;p18"/>
          <p:cNvSpPr txBox="1"/>
          <p:nvPr>
            <p:ph idx="2" type="body"/>
          </p:nvPr>
        </p:nvSpPr>
        <p:spPr>
          <a:xfrm>
            <a:off x="3486243" y="1200150"/>
            <a:ext cx="30291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82" name="Google Shape;82;p18"/>
          <p:cNvSpPr txBox="1"/>
          <p:nvPr>
            <p:ph idx="10" type="dt"/>
          </p:nvPr>
        </p:nvSpPr>
        <p:spPr>
          <a:xfrm>
            <a:off x="342909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1" type="ftr"/>
          </p:nvPr>
        </p:nvSpPr>
        <p:spPr>
          <a:xfrm>
            <a:off x="2343212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2" type="sldNum"/>
          </p:nvPr>
        </p:nvSpPr>
        <p:spPr>
          <a:xfrm>
            <a:off x="4915031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>
            <p:ph type="title"/>
          </p:nvPr>
        </p:nvSpPr>
        <p:spPr>
          <a:xfrm>
            <a:off x="342909" y="205978"/>
            <a:ext cx="61725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7" name="Google Shape;87;p19"/>
          <p:cNvSpPr txBox="1"/>
          <p:nvPr>
            <p:ph idx="1" type="body"/>
          </p:nvPr>
        </p:nvSpPr>
        <p:spPr>
          <a:xfrm>
            <a:off x="342909" y="1151335"/>
            <a:ext cx="3030300" cy="479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8" name="Google Shape;88;p19"/>
          <p:cNvSpPr txBox="1"/>
          <p:nvPr>
            <p:ph idx="2" type="body"/>
          </p:nvPr>
        </p:nvSpPr>
        <p:spPr>
          <a:xfrm>
            <a:off x="342909" y="1631156"/>
            <a:ext cx="3030300" cy="29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89" name="Google Shape;89;p19"/>
          <p:cNvSpPr txBox="1"/>
          <p:nvPr>
            <p:ph idx="3" type="body"/>
          </p:nvPr>
        </p:nvSpPr>
        <p:spPr>
          <a:xfrm>
            <a:off x="3483862" y="1151335"/>
            <a:ext cx="3031500" cy="479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0" name="Google Shape;90;p19"/>
          <p:cNvSpPr txBox="1"/>
          <p:nvPr>
            <p:ph idx="4" type="body"/>
          </p:nvPr>
        </p:nvSpPr>
        <p:spPr>
          <a:xfrm>
            <a:off x="3483862" y="1631156"/>
            <a:ext cx="3031500" cy="29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91" name="Google Shape;91;p19"/>
          <p:cNvSpPr txBox="1"/>
          <p:nvPr>
            <p:ph idx="10" type="dt"/>
          </p:nvPr>
        </p:nvSpPr>
        <p:spPr>
          <a:xfrm>
            <a:off x="342909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1" type="ftr"/>
          </p:nvPr>
        </p:nvSpPr>
        <p:spPr>
          <a:xfrm>
            <a:off x="2343212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2" type="sldNum"/>
          </p:nvPr>
        </p:nvSpPr>
        <p:spPr>
          <a:xfrm>
            <a:off x="4915031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342909" y="205978"/>
            <a:ext cx="61725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6" name="Google Shape;96;p20"/>
          <p:cNvSpPr txBox="1"/>
          <p:nvPr>
            <p:ph idx="10" type="dt"/>
          </p:nvPr>
        </p:nvSpPr>
        <p:spPr>
          <a:xfrm>
            <a:off x="342909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2343212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4915031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342909" y="204788"/>
            <a:ext cx="2256300" cy="8715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2681359" y="204788"/>
            <a:ext cx="3834000" cy="43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/>
            </a:lvl2pPr>
            <a:lvl3pPr indent="-3429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4pPr>
            <a:lvl5pPr indent="-32385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 sz="1500"/>
            </a:lvl5pPr>
            <a:lvl6pPr indent="-32385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342909" y="1076325"/>
            <a:ext cx="2256300" cy="35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342909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2343212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4915031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1344252" y="3600450"/>
            <a:ext cx="41148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1344252" y="459581"/>
            <a:ext cx="41148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1344252" y="4025504"/>
            <a:ext cx="41148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342909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2343212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4915031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342909" y="205978"/>
            <a:ext cx="61725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1731774" y="-188850"/>
            <a:ext cx="3394500" cy="6172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342909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2343212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4915031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3549324" y="1628729"/>
            <a:ext cx="4388700" cy="15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406029" y="142828"/>
            <a:ext cx="4388700" cy="45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342909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2343212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4915031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e01a884665_20_0)">
  <p:cSld name="Generated (g3e01a884665_20_0)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42909" y="205978"/>
            <a:ext cx="61725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2909" y="1200150"/>
            <a:ext cx="61725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195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342909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2343212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4915031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13.png"/><Relationship Id="rId5" Type="http://schemas.openxmlformats.org/officeDocument/2006/relationships/image" Target="../media/image4.png"/><Relationship Id="rId6" Type="http://schemas.openxmlformats.org/officeDocument/2006/relationships/image" Target="../media/image17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6"/>
          <p:cNvSpPr txBox="1"/>
          <p:nvPr>
            <p:ph type="ctrTitle"/>
          </p:nvPr>
        </p:nvSpPr>
        <p:spPr>
          <a:xfrm>
            <a:off x="762000" y="1524000"/>
            <a:ext cx="7620000" cy="952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t/>
            </a:r>
            <a:endParaRPr b="1" sz="4800">
              <a:solidFill>
                <a:srgbClr val="1A1A1A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en" sz="4800">
                <a:solidFill>
                  <a:srgbClr val="1A1A1A"/>
                </a:solidFill>
                <a:latin typeface="Oswald"/>
                <a:ea typeface="Oswald"/>
                <a:cs typeface="Oswald"/>
                <a:sym typeface="Oswald"/>
              </a:rPr>
              <a:t>Use Case 3: Unified Social Registry for Enhanced Delivery of Public Welfare Services</a:t>
            </a:r>
            <a:endParaRPr b="1" sz="4800">
              <a:solidFill>
                <a:srgbClr val="1A1A1A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t/>
            </a:r>
            <a:endParaRPr b="1" sz="4800">
              <a:solidFill>
                <a:srgbClr val="1A1A1A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800">
              <a:solidFill>
                <a:srgbClr val="1A1A1A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31" name="Google Shape;131;p26"/>
          <p:cNvSpPr/>
          <p:nvPr/>
        </p:nvSpPr>
        <p:spPr>
          <a:xfrm>
            <a:off x="4095750" y="3333750"/>
            <a:ext cx="952500" cy="3810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27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7" name="Google Shape;137;p27"/>
          <p:cNvGrpSpPr/>
          <p:nvPr/>
        </p:nvGrpSpPr>
        <p:grpSpPr>
          <a:xfrm>
            <a:off x="409575" y="381000"/>
            <a:ext cx="8325000" cy="809775"/>
            <a:chOff x="409575" y="381000"/>
            <a:chExt cx="8325000" cy="809775"/>
          </a:xfrm>
        </p:grpSpPr>
        <p:sp>
          <p:nvSpPr>
            <p:cNvPr id="138" name="Google Shape;138;p27"/>
            <p:cNvSpPr txBox="1"/>
            <p:nvPr/>
          </p:nvSpPr>
          <p:spPr>
            <a:xfrm>
              <a:off x="409575" y="381000"/>
              <a:ext cx="8325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r>
                <a:t>Plain-English Walkthrough</a:t>
              </a:r>
            </a:p>
          </p:txBody>
        </p:sp>
        <p:sp>
          <p:nvSpPr>
            <p:cNvPr id="139" name="Google Shape;139;p27"/>
            <p:cNvSpPr txBox="1"/>
            <p:nvPr/>
          </p:nvSpPr>
          <p:spPr>
            <a:xfrm>
              <a:off x="409575" y="904875"/>
              <a:ext cx="8325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r>
                <a:t>How the system identifies likely welfare fraud and helps teams act quickly and fairly.</a:t>
              </a:r>
            </a:p>
          </p:txBody>
        </p:sp>
      </p:grpSp>
      <p:grpSp>
        <p:nvGrpSpPr>
          <p:cNvPr id="140" name="Google Shape;140;p27"/>
          <p:cNvGrpSpPr/>
          <p:nvPr/>
        </p:nvGrpSpPr>
        <p:grpSpPr>
          <a:xfrm>
            <a:off x="409575" y="1524000"/>
            <a:ext cx="2571900" cy="2667000"/>
            <a:chOff x="0" y="0"/>
            <a:chExt cx="2571900" cy="2667000"/>
          </a:xfrm>
        </p:grpSpPr>
        <p:sp>
          <p:nvSpPr>
            <p:cNvPr id="141" name="Google Shape;141;p27"/>
            <p:cNvSpPr/>
            <p:nvPr/>
          </p:nvSpPr>
          <p:spPr>
            <a:xfrm>
              <a:off x="0" y="0"/>
              <a:ext cx="2571900" cy="2667000"/>
            </a:xfrm>
            <a:prstGeom prst="roundRect">
              <a:avLst>
                <a:gd fmla="val 4444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42" name="Google Shape;142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0"/>
              <a:ext cx="2571900" cy="381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3" name="Google Shape;143;p27"/>
            <p:cNvSpPr txBox="1"/>
            <p:nvPr/>
          </p:nvSpPr>
          <p:spPr>
            <a:xfrm>
              <a:off x="190500" y="95250"/>
              <a:ext cx="2190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r>
                <a:t>What We Will Cover</a:t>
              </a:r>
            </a:p>
          </p:txBody>
        </p:sp>
        <p:sp>
          <p:nvSpPr>
            <p:cNvPr id="144" name="Google Shape;144;p27"/>
            <p:cNvSpPr txBox="1"/>
            <p:nvPr/>
          </p:nvSpPr>
          <p:spPr>
            <a:xfrm>
              <a:off x="190500" y="571500"/>
              <a:ext cx="21909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r>
                <a:t>1) Our approach in simple terms</a:t>
              </a:r>
            </a:p>
            <a:p>
              <a:r>
                <a:t>2) Current accuracy and what it really means</a:t>
              </a:r>
            </a:p>
            <a:p>
              <a:r>
                <a:t>3) How we evaluate performance</a:t>
              </a:r>
            </a:p>
            <a:p>
              <a:r>
                <a:t>4) Key risks and how we reduce them</a:t>
              </a:r>
            </a:p>
          </p:txBody>
        </p:sp>
      </p:grpSp>
      <p:grpSp>
        <p:nvGrpSpPr>
          <p:cNvPr id="145" name="Google Shape;145;p27"/>
          <p:cNvGrpSpPr/>
          <p:nvPr/>
        </p:nvGrpSpPr>
        <p:grpSpPr>
          <a:xfrm>
            <a:off x="3143250" y="1524000"/>
            <a:ext cx="5591100" cy="2667000"/>
            <a:chOff x="0" y="0"/>
            <a:chExt cx="5591100" cy="2667000"/>
          </a:xfrm>
        </p:grpSpPr>
        <p:sp>
          <p:nvSpPr>
            <p:cNvPr id="146" name="Google Shape;146;p27"/>
            <p:cNvSpPr/>
            <p:nvPr/>
          </p:nvSpPr>
          <p:spPr>
            <a:xfrm>
              <a:off x="0" y="0"/>
              <a:ext cx="5591100" cy="2667000"/>
            </a:xfrm>
            <a:prstGeom prst="roundRect">
              <a:avLst>
                <a:gd fmla="val 4285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47" name="Google Shape;147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0"/>
              <a:ext cx="5591100" cy="381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8" name="Google Shape;148;p27"/>
            <p:cNvSpPr txBox="1"/>
            <p:nvPr/>
          </p:nvSpPr>
          <p:spPr>
            <a:xfrm>
              <a:off x="190500" y="95250"/>
              <a:ext cx="52101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r>
                <a:t>System At A Glance</a:t>
              </a:r>
            </a:p>
          </p:txBody>
        </p:sp>
        <p:pic>
          <p:nvPicPr>
            <p:cNvPr id="149" name="Google Shape;149;p2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71500" y="1323975"/>
              <a:ext cx="2857500" cy="19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0" name="Google Shape;150;p27"/>
            <p:cNvSpPr/>
            <p:nvPr/>
          </p:nvSpPr>
          <p:spPr>
            <a:xfrm>
              <a:off x="285750" y="1047750"/>
              <a:ext cx="571500" cy="571500"/>
            </a:xfrm>
            <a:prstGeom prst="ellipse">
              <a:avLst/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27"/>
            <p:cNvSpPr txBox="1"/>
            <p:nvPr/>
          </p:nvSpPr>
          <p:spPr>
            <a:xfrm>
              <a:off x="285750" y="35052"/>
              <a:ext cx="571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r>
                <a:t>Storage</a:t>
              </a:r>
            </a:p>
          </p:txBody>
        </p:sp>
        <p:sp>
          <p:nvSpPr>
            <p:cNvPr id="152" name="Google Shape;152;p27"/>
            <p:cNvSpPr/>
            <p:nvPr/>
          </p:nvSpPr>
          <p:spPr>
            <a:xfrm>
              <a:off x="1714500" y="1047750"/>
              <a:ext cx="571500" cy="571500"/>
            </a:xfrm>
            <a:prstGeom prst="ellipse">
              <a:avLst/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27"/>
            <p:cNvSpPr txBox="1"/>
            <p:nvPr/>
          </p:nvSpPr>
          <p:spPr>
            <a:xfrm>
              <a:off x="1714500" y="35052"/>
              <a:ext cx="571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r>
                <a:t>Data Node</a:t>
              </a:r>
            </a:p>
          </p:txBody>
        </p:sp>
        <p:sp>
          <p:nvSpPr>
            <p:cNvPr id="154" name="Google Shape;154;p27"/>
            <p:cNvSpPr/>
            <p:nvPr/>
          </p:nvSpPr>
          <p:spPr>
            <a:xfrm>
              <a:off x="3143250" y="1047750"/>
              <a:ext cx="571500" cy="571500"/>
            </a:xfrm>
            <a:prstGeom prst="ellipse">
              <a:avLst/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27"/>
            <p:cNvSpPr txBox="1"/>
            <p:nvPr/>
          </p:nvSpPr>
          <p:spPr>
            <a:xfrm>
              <a:off x="3143250" y="35052"/>
              <a:ext cx="571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r>
                <a:t>Graph Hub</a:t>
              </a:r>
            </a:p>
          </p:txBody>
        </p:sp>
        <p:sp>
          <p:nvSpPr>
            <p:cNvPr id="156" name="Google Shape;156;p27"/>
            <p:cNvSpPr txBox="1"/>
            <p:nvPr/>
          </p:nvSpPr>
          <p:spPr>
            <a:xfrm>
              <a:off x="285750" y="1714500"/>
              <a:ext cx="6669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r>
                <a:t>Raw social registry data</a:t>
              </a:r>
            </a:p>
          </p:txBody>
        </p:sp>
        <p:sp>
          <p:nvSpPr>
            <p:cNvPr id="157" name="Google Shape;157;p27"/>
            <p:cNvSpPr txBox="1"/>
            <p:nvPr/>
          </p:nvSpPr>
          <p:spPr>
            <a:xfrm>
              <a:off x="1666875" y="1714500"/>
              <a:ext cx="6669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r>
                <a:t>Verified relational records</a:t>
              </a:r>
            </a:p>
          </p:txBody>
        </p:sp>
        <p:sp>
          <p:nvSpPr>
            <p:cNvPr id="158" name="Google Shape;158;p27"/>
            <p:cNvSpPr txBox="1"/>
            <p:nvPr/>
          </p:nvSpPr>
          <p:spPr>
            <a:xfrm>
              <a:off x="3095625" y="1714500"/>
              <a:ext cx="6669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r>
                <a:t>Connected fraud intelligence graph</a:t>
              </a:r>
            </a:p>
          </p:txBody>
        </p:sp>
        <p:pic>
          <p:nvPicPr>
            <p:cNvPr descr="A futuristic blue and silver digital visualization of a complex knowledge graph network with nodes and connecting lines, abstract and professional." id="159" name="Google Shape;159;p27"/>
            <p:cNvPicPr preferRelativeResize="0"/>
            <p:nvPr/>
          </p:nvPicPr>
          <p:blipFill rotWithShape="1">
            <a:blip r:embed="rId6">
              <a:alphaModFix/>
            </a:blip>
            <a:srcRect b="0" l="5556" r="5556" t="0"/>
            <a:stretch/>
          </p:blipFill>
          <p:spPr>
            <a:xfrm>
              <a:off x="4191000" y="571500"/>
              <a:ext cx="1143000" cy="17145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0" name="Google Shape;160;p27"/>
          <p:cNvSpPr txBox="1"/>
          <p:nvPr/>
        </p:nvSpPr>
        <p:spPr>
          <a:xfrm>
            <a:off x="409575" y="4762500"/>
            <a:ext cx="8325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800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Presentation deck with live frontend screenshots | April 2026</a:t>
            </a:r>
            <a:endParaRPr b="0" sz="800">
              <a:solidFill>
                <a:srgbClr val="94A3B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8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2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28"/>
          <p:cNvSpPr txBox="1"/>
          <p:nvPr/>
        </p:nvSpPr>
        <p:spPr>
          <a:xfrm>
            <a:off x="409575" y="381000"/>
            <a:ext cx="8367000" cy="492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r>
              <a:t>Our Approach In Simple Terms</a:t>
            </a:r>
          </a:p>
        </p:txBody>
      </p:sp>
      <p:grpSp>
        <p:nvGrpSpPr>
          <p:cNvPr id="168" name="Google Shape;168;p28"/>
          <p:cNvGrpSpPr/>
          <p:nvPr/>
        </p:nvGrpSpPr>
        <p:grpSpPr>
          <a:xfrm>
            <a:off x="409575" y="1524000"/>
            <a:ext cx="4000500" cy="2667000"/>
            <a:chOff x="409575" y="1524000"/>
            <a:chExt cx="4000500" cy="2667000"/>
          </a:xfrm>
        </p:grpSpPr>
        <p:sp>
          <p:nvSpPr>
            <p:cNvPr id="169" name="Google Shape;169;p28"/>
            <p:cNvSpPr/>
            <p:nvPr/>
          </p:nvSpPr>
          <p:spPr>
            <a:xfrm>
              <a:off x="409575" y="1524000"/>
              <a:ext cx="4000500" cy="2667000"/>
            </a:xfrm>
            <a:prstGeom prst="roundRect">
              <a:avLst>
                <a:gd fmla="val 4285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28"/>
            <p:cNvSpPr/>
            <p:nvPr/>
          </p:nvSpPr>
          <p:spPr>
            <a:xfrm>
              <a:off x="409575" y="1524000"/>
              <a:ext cx="4000500" cy="381000"/>
            </a:xfrm>
            <a:prstGeom prst="roundRect">
              <a:avLst>
                <a:gd fmla="val 30000" name="adj"/>
              </a:avLst>
            </a:prstGeom>
            <a:solidFill>
              <a:srgbClr val="2563EB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28"/>
            <p:cNvSpPr txBox="1"/>
            <p:nvPr/>
          </p:nvSpPr>
          <p:spPr>
            <a:xfrm>
              <a:off x="600075" y="1571625"/>
              <a:ext cx="3619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r>
                <a:t>Step 1: Understand all incoming data</a:t>
              </a:r>
            </a:p>
          </p:txBody>
        </p:sp>
        <p:sp>
          <p:nvSpPr>
            <p:cNvPr id="172" name="Google Shape;172;p28"/>
            <p:cNvSpPr txBox="1"/>
            <p:nvPr/>
          </p:nvSpPr>
          <p:spPr>
            <a:xfrm>
              <a:off x="600075" y="2000250"/>
              <a:ext cx="36195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r>
                <a:t>We read uploaded documents and convert messy text into usable facts and connections.</a:t>
              </a:r>
            </a:p>
          </p:txBody>
        </p:sp>
      </p:grpSp>
      <p:grpSp>
        <p:nvGrpSpPr>
          <p:cNvPr id="173" name="Google Shape;173;p28"/>
          <p:cNvGrpSpPr/>
          <p:nvPr/>
        </p:nvGrpSpPr>
        <p:grpSpPr>
          <a:xfrm>
            <a:off x="4733925" y="1524000"/>
            <a:ext cx="4000500" cy="2667000"/>
            <a:chOff x="4733925" y="1524000"/>
            <a:chExt cx="4000500" cy="2667000"/>
          </a:xfrm>
        </p:grpSpPr>
        <p:sp>
          <p:nvSpPr>
            <p:cNvPr id="174" name="Google Shape;174;p28"/>
            <p:cNvSpPr/>
            <p:nvPr/>
          </p:nvSpPr>
          <p:spPr>
            <a:xfrm>
              <a:off x="4733925" y="1524000"/>
              <a:ext cx="4000500" cy="2667000"/>
            </a:xfrm>
            <a:prstGeom prst="roundRect">
              <a:avLst>
                <a:gd fmla="val 4285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28"/>
            <p:cNvSpPr/>
            <p:nvPr/>
          </p:nvSpPr>
          <p:spPr>
            <a:xfrm>
              <a:off x="4733925" y="1524000"/>
              <a:ext cx="4000500" cy="381000"/>
            </a:xfrm>
            <a:prstGeom prst="roundRect">
              <a:avLst>
                <a:gd fmla="val 30000" name="adj"/>
              </a:avLst>
            </a:prstGeom>
            <a:solidFill>
              <a:srgbClr val="2563EB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28"/>
            <p:cNvSpPr txBox="1"/>
            <p:nvPr/>
          </p:nvSpPr>
          <p:spPr>
            <a:xfrm>
              <a:off x="4924425" y="1571625"/>
              <a:ext cx="3619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r>
                <a:t>Step 2: Detect and prioritize risk</a:t>
              </a:r>
            </a:p>
          </p:txBody>
        </p:sp>
        <p:sp>
          <p:nvSpPr>
            <p:cNvPr id="177" name="Google Shape;177;p28"/>
            <p:cNvSpPr txBox="1"/>
            <p:nvPr/>
          </p:nvSpPr>
          <p:spPr>
            <a:xfrm>
              <a:off x="4924425" y="2000250"/>
              <a:ext cx="36195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r>
                <a:t>We analyze social registry records, flag risky patterns, and send the highest-risk cases for review first.</a:t>
              </a:r>
            </a:p>
          </p:txBody>
        </p:sp>
      </p:grpSp>
      <p:sp>
        <p:nvSpPr>
          <p:cNvPr id="178" name="Google Shape;178;p28"/>
          <p:cNvSpPr txBox="1"/>
          <p:nvPr/>
        </p:nvSpPr>
        <p:spPr>
          <a:xfrm>
            <a:off x="409575" y="4762500"/>
            <a:ext cx="8298300" cy="123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800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Advance-RAG | KG Fraud Intelligence</a:t>
            </a:r>
            <a:endParaRPr b="0" sz="800">
              <a:solidFill>
                <a:srgbClr val="94A3B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9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29"/>
          <p:cNvSpPr txBox="1"/>
          <p:nvPr/>
        </p:nvSpPr>
        <p:spPr>
          <a:xfrm>
            <a:off x="411491" y="240030"/>
            <a:ext cx="8367000" cy="492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r>
              <a:t>How Detection Works (Simple Rule Logic)</a:t>
            </a:r>
          </a:p>
        </p:txBody>
      </p:sp>
      <p:grpSp>
        <p:nvGrpSpPr>
          <p:cNvPr id="186" name="Google Shape;186;p29"/>
          <p:cNvGrpSpPr/>
          <p:nvPr/>
        </p:nvGrpSpPr>
        <p:grpSpPr>
          <a:xfrm>
            <a:off x="409575" y="1047750"/>
            <a:ext cx="8325000" cy="3524400"/>
            <a:chOff x="409575" y="1047750"/>
            <a:chExt cx="8325000" cy="3524400"/>
          </a:xfrm>
        </p:grpSpPr>
        <p:sp>
          <p:nvSpPr>
            <p:cNvPr id="187" name="Google Shape;187;p29"/>
            <p:cNvSpPr/>
            <p:nvPr/>
          </p:nvSpPr>
          <p:spPr>
            <a:xfrm>
              <a:off x="409575" y="1047750"/>
              <a:ext cx="8325000" cy="3524400"/>
            </a:xfrm>
            <a:prstGeom prst="roundRect">
              <a:avLst>
                <a:gd fmla="val 3243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29"/>
            <p:cNvSpPr/>
            <p:nvPr/>
          </p:nvSpPr>
          <p:spPr>
            <a:xfrm>
              <a:off x="409575" y="1047750"/>
              <a:ext cx="8325000" cy="381000"/>
            </a:xfrm>
            <a:prstGeom prst="roundRect">
              <a:avLst>
                <a:gd fmla="val 30000" name="adj"/>
              </a:avLst>
            </a:prstGeom>
            <a:solidFill>
              <a:srgbClr val="2563EB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29"/>
            <p:cNvSpPr txBox="1"/>
            <p:nvPr/>
          </p:nvSpPr>
          <p:spPr>
            <a:xfrm>
              <a:off x="409575" y="1047750"/>
              <a:ext cx="8325000" cy="352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r>
                <a:t>Example Rules</a:t>
              </a:r>
            </a:p>
            <a:p>
              <a:r>
                <a:t>- Age above 110 -&gt; likely ghost beneficiary (85%)</a:t>
              </a:r>
            </a:p>
            <a:p>
              <a:r>
                <a:t>- Date of birth in the future -&gt; invalid record (90%)</a:t>
              </a:r>
            </a:p>
            <a:p>
              <a:r>
                <a:t>- Exact duplicate identity fields -&gt; possible duplicate claim (92%)</a:t>
              </a:r>
            </a:p>
            <a:p/>
            <a:p>
              <a:r>
                <a:t>These scores show rule confidence, not final guilt.</a:t>
              </a:r>
            </a:p>
          </p:txBody>
        </p:sp>
      </p:grpSp>
      <p:sp>
        <p:nvSpPr>
          <p:cNvPr id="190" name="Google Shape;190;p29"/>
          <p:cNvSpPr txBox="1"/>
          <p:nvPr/>
        </p:nvSpPr>
        <p:spPr>
          <a:xfrm>
            <a:off x="411491" y="4834890"/>
            <a:ext cx="82983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Advance-RAG | KG Fraud Intelligence</a:t>
            </a:r>
            <a:endParaRPr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0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3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30"/>
          <p:cNvSpPr txBox="1"/>
          <p:nvPr/>
        </p:nvSpPr>
        <p:spPr>
          <a:xfrm>
            <a:off x="411491" y="335280"/>
            <a:ext cx="8367000" cy="492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r>
              <a:t>How Each Screen Helps A Non-Technical User</a:t>
            </a:r>
          </a:p>
        </p:txBody>
      </p:sp>
      <p:grpSp>
        <p:nvGrpSpPr>
          <p:cNvPr id="198" name="Google Shape;198;p30"/>
          <p:cNvGrpSpPr/>
          <p:nvPr/>
        </p:nvGrpSpPr>
        <p:grpSpPr>
          <a:xfrm>
            <a:off x="409575" y="1333500"/>
            <a:ext cx="2667000" cy="3238500"/>
            <a:chOff x="409575" y="1333500"/>
            <a:chExt cx="2667000" cy="3238500"/>
          </a:xfrm>
        </p:grpSpPr>
        <p:sp>
          <p:nvSpPr>
            <p:cNvPr id="199" name="Google Shape;199;p30"/>
            <p:cNvSpPr/>
            <p:nvPr/>
          </p:nvSpPr>
          <p:spPr>
            <a:xfrm>
              <a:off x="409575" y="1333500"/>
              <a:ext cx="2667000" cy="3238500"/>
            </a:xfrm>
            <a:prstGeom prst="roundRect">
              <a:avLst>
                <a:gd fmla="val 4285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30"/>
            <p:cNvSpPr/>
            <p:nvPr/>
          </p:nvSpPr>
          <p:spPr>
            <a:xfrm>
              <a:off x="409575" y="1333500"/>
              <a:ext cx="2667000" cy="428700"/>
            </a:xfrm>
            <a:prstGeom prst="roundRect">
              <a:avLst>
                <a:gd fmla="val 26666" name="adj"/>
              </a:avLst>
            </a:prstGeom>
            <a:solidFill>
              <a:srgbClr val="2563EB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30"/>
            <p:cNvSpPr txBox="1"/>
            <p:nvPr/>
          </p:nvSpPr>
          <p:spPr>
            <a:xfrm>
              <a:off x="552450" y="1333500"/>
              <a:ext cx="23814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r>
                <a:t>Ask Questions</a:t>
              </a:r>
            </a:p>
          </p:txBody>
        </p:sp>
        <p:sp>
          <p:nvSpPr>
            <p:cNvPr id="202" name="Google Shape;202;p30"/>
            <p:cNvSpPr txBox="1"/>
            <p:nvPr/>
          </p:nvSpPr>
          <p:spPr>
            <a:xfrm>
              <a:off x="552450" y="1905000"/>
              <a:ext cx="2381400" cy="247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r>
                <a:t>Staff can ask plain-language questions and get evidence-backed answers.</a:t>
              </a:r>
            </a:p>
          </p:txBody>
        </p:sp>
        <p:sp>
          <p:nvSpPr>
            <p:cNvPr id="203" name="Google Shape;203;p30"/>
            <p:cNvSpPr txBox="1"/>
            <p:nvPr/>
          </p:nvSpPr>
          <p:spPr>
            <a:xfrm>
              <a:off x="552450" y="1474089"/>
              <a:ext cx="285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2563E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forum</a:t>
              </a:r>
              <a:endParaRPr sz="1800">
                <a:solidFill>
                  <a:srgbClr val="2563EB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</p:grpSp>
      <p:grpSp>
        <p:nvGrpSpPr>
          <p:cNvPr id="204" name="Google Shape;204;p30"/>
          <p:cNvGrpSpPr/>
          <p:nvPr/>
        </p:nvGrpSpPr>
        <p:grpSpPr>
          <a:xfrm>
            <a:off x="3238500" y="1333500"/>
            <a:ext cx="2667000" cy="3238500"/>
            <a:chOff x="3238500" y="1333500"/>
            <a:chExt cx="2667000" cy="3238500"/>
          </a:xfrm>
        </p:grpSpPr>
        <p:sp>
          <p:nvSpPr>
            <p:cNvPr id="205" name="Google Shape;205;p30"/>
            <p:cNvSpPr/>
            <p:nvPr/>
          </p:nvSpPr>
          <p:spPr>
            <a:xfrm>
              <a:off x="3238500" y="1333500"/>
              <a:ext cx="2667000" cy="3238500"/>
            </a:xfrm>
            <a:prstGeom prst="roundRect">
              <a:avLst>
                <a:gd fmla="val 4285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30"/>
            <p:cNvSpPr/>
            <p:nvPr/>
          </p:nvSpPr>
          <p:spPr>
            <a:xfrm>
              <a:off x="3238500" y="1333500"/>
              <a:ext cx="2667000" cy="428700"/>
            </a:xfrm>
            <a:prstGeom prst="roundRect">
              <a:avLst>
                <a:gd fmla="val 26666" name="adj"/>
              </a:avLst>
            </a:prstGeom>
            <a:solidFill>
              <a:srgbClr val="2563EB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30"/>
            <p:cNvSpPr txBox="1"/>
            <p:nvPr/>
          </p:nvSpPr>
          <p:spPr>
            <a:xfrm>
              <a:off x="3381375" y="1333500"/>
              <a:ext cx="23814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r>
                <a:t>See Connections</a:t>
              </a:r>
            </a:p>
          </p:txBody>
        </p:sp>
        <p:sp>
          <p:nvSpPr>
            <p:cNvPr id="208" name="Google Shape;208;p30"/>
            <p:cNvSpPr txBox="1"/>
            <p:nvPr/>
          </p:nvSpPr>
          <p:spPr>
            <a:xfrm>
              <a:off x="3381375" y="1905000"/>
              <a:ext cx="2381400" cy="247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r>
                <a:t>The map view shows how people, operators, and claims are linked.</a:t>
              </a:r>
            </a:p>
          </p:txBody>
        </p:sp>
        <p:sp>
          <p:nvSpPr>
            <p:cNvPr id="209" name="Google Shape;209;p30"/>
            <p:cNvSpPr txBox="1"/>
            <p:nvPr/>
          </p:nvSpPr>
          <p:spPr>
            <a:xfrm>
              <a:off x="3381375" y="1474089"/>
              <a:ext cx="285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2563E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account_tree</a:t>
              </a:r>
              <a:endParaRPr sz="1800">
                <a:solidFill>
                  <a:srgbClr val="2563EB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</p:grpSp>
      <p:grpSp>
        <p:nvGrpSpPr>
          <p:cNvPr id="210" name="Google Shape;210;p30"/>
          <p:cNvGrpSpPr/>
          <p:nvPr/>
        </p:nvGrpSpPr>
        <p:grpSpPr>
          <a:xfrm>
            <a:off x="6067425" y="1333500"/>
            <a:ext cx="2667000" cy="3238500"/>
            <a:chOff x="6067425" y="1333500"/>
            <a:chExt cx="2667000" cy="3238500"/>
          </a:xfrm>
        </p:grpSpPr>
        <p:sp>
          <p:nvSpPr>
            <p:cNvPr id="211" name="Google Shape;211;p30"/>
            <p:cNvSpPr/>
            <p:nvPr/>
          </p:nvSpPr>
          <p:spPr>
            <a:xfrm>
              <a:off x="6067425" y="1333500"/>
              <a:ext cx="2667000" cy="3238500"/>
            </a:xfrm>
            <a:prstGeom prst="roundRect">
              <a:avLst>
                <a:gd fmla="val 4285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p30"/>
            <p:cNvSpPr/>
            <p:nvPr/>
          </p:nvSpPr>
          <p:spPr>
            <a:xfrm>
              <a:off x="6067425" y="1333500"/>
              <a:ext cx="2667000" cy="428700"/>
            </a:xfrm>
            <a:prstGeom prst="roundRect">
              <a:avLst>
                <a:gd fmla="val 26666" name="adj"/>
              </a:avLst>
            </a:prstGeom>
            <a:solidFill>
              <a:srgbClr val="2563EB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" name="Google Shape;213;p30"/>
            <p:cNvSpPr txBox="1"/>
            <p:nvPr/>
          </p:nvSpPr>
          <p:spPr>
            <a:xfrm>
              <a:off x="6210300" y="1333500"/>
              <a:ext cx="23814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r>
                <a:t>Take Action</a:t>
              </a:r>
            </a:p>
          </p:txBody>
        </p:sp>
        <p:sp>
          <p:nvSpPr>
            <p:cNvPr id="214" name="Google Shape;214;p30"/>
            <p:cNvSpPr txBox="1"/>
            <p:nvPr/>
          </p:nvSpPr>
          <p:spPr>
            <a:xfrm>
              <a:off x="6210300" y="1905000"/>
              <a:ext cx="2381400" cy="247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r>
                <a:t>The dashboard turns alerts into assignable tasks for field teams.</a:t>
              </a:r>
            </a:p>
          </p:txBody>
        </p:sp>
        <p:sp>
          <p:nvSpPr>
            <p:cNvPr id="215" name="Google Shape;215;p30"/>
            <p:cNvSpPr txBox="1"/>
            <p:nvPr/>
          </p:nvSpPr>
          <p:spPr>
            <a:xfrm>
              <a:off x="6210300" y="1474089"/>
              <a:ext cx="285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2563E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dashboard</a:t>
              </a:r>
              <a:endParaRPr sz="1800">
                <a:solidFill>
                  <a:srgbClr val="2563EB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</p:grpSp>
      <p:sp>
        <p:nvSpPr>
          <p:cNvPr id="216" name="Google Shape;216;p30"/>
          <p:cNvSpPr txBox="1"/>
          <p:nvPr/>
        </p:nvSpPr>
        <p:spPr>
          <a:xfrm>
            <a:off x="411491" y="4762500"/>
            <a:ext cx="8298300" cy="123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Advance-RAG | KG Fraud Intelligence</a:t>
            </a:r>
            <a:endParaRPr b="0" i="0" sz="800">
              <a:solidFill>
                <a:srgbClr val="94A3B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31"/>
          <p:cNvSpPr txBox="1"/>
          <p:nvPr/>
        </p:nvSpPr>
        <p:spPr>
          <a:xfrm>
            <a:off x="411491" y="240030"/>
            <a:ext cx="8367000" cy="492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r>
              <a:t>Why The Knowledge Map Matters</a:t>
            </a:r>
          </a:p>
        </p:txBody>
      </p:sp>
      <p:sp>
        <p:nvSpPr>
          <p:cNvPr id="223" name="Google Shape;223;p31"/>
          <p:cNvSpPr/>
          <p:nvPr/>
        </p:nvSpPr>
        <p:spPr>
          <a:xfrm>
            <a:off x="381000" y="952500"/>
            <a:ext cx="5715000" cy="3619500"/>
          </a:xfrm>
          <a:prstGeom prst="roundRect">
            <a:avLst>
              <a:gd fmla="val 315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31"/>
          <p:cNvSpPr/>
          <p:nvPr/>
        </p:nvSpPr>
        <p:spPr>
          <a:xfrm>
            <a:off x="381000" y="952500"/>
            <a:ext cx="5715000" cy="381000"/>
          </a:xfrm>
          <a:prstGeom prst="roundRect">
            <a:avLst>
              <a:gd fmla="val 30000" name="adj"/>
            </a:avLst>
          </a:prstGeom>
          <a:solidFill>
            <a:srgbClr val="2563EB">
              <a:alpha val="1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31"/>
          <p:cNvSpPr txBox="1"/>
          <p:nvPr/>
        </p:nvSpPr>
        <p:spPr>
          <a:xfrm>
            <a:off x="523875" y="952500"/>
            <a:ext cx="5429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r>
              <a:t>LIVE CONNECTION MAP</a:t>
            </a:r>
          </a:p>
        </p:txBody>
      </p:sp>
      <p:pic>
        <p:nvPicPr>
          <p:cNvPr id="226" name="Google Shape;226;p31"/>
          <p:cNvPicPr preferRelativeResize="0"/>
          <p:nvPr/>
        </p:nvPicPr>
        <p:blipFill rotWithShape="1">
          <a:blip r:embed="rId3">
            <a:alphaModFix/>
          </a:blip>
          <a:srcRect b="4849" l="0" r="0" t="4858"/>
          <a:stretch/>
        </p:blipFill>
        <p:spPr>
          <a:xfrm>
            <a:off x="476250" y="1428750"/>
            <a:ext cx="5524500" cy="304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31"/>
          <p:cNvSpPr txBox="1"/>
          <p:nvPr/>
        </p:nvSpPr>
        <p:spPr>
          <a:xfrm>
            <a:off x="6286500" y="1143000"/>
            <a:ext cx="2476500" cy="2807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r>
              <a:t>Red nodes highlight unusual patterns. Teams can visually trace who is connected to what, and why a case was flagged.</a:t>
            </a:r>
          </a:p>
        </p:txBody>
      </p:sp>
      <p:sp>
        <p:nvSpPr>
          <p:cNvPr id="228" name="Google Shape;228;p31"/>
          <p:cNvSpPr txBox="1"/>
          <p:nvPr/>
        </p:nvSpPr>
        <p:spPr>
          <a:xfrm>
            <a:off x="411491" y="4762500"/>
            <a:ext cx="8298300" cy="123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800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Advance-RAG | KG Fraud Intelligence</a:t>
            </a:r>
            <a:endParaRPr b="0" sz="800">
              <a:solidFill>
                <a:srgbClr val="94A3B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9" name="Google Shape;229;p31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32"/>
          <p:cNvSpPr/>
          <p:nvPr/>
        </p:nvSpPr>
        <p:spPr>
          <a:xfrm>
            <a:off x="381000" y="952500"/>
            <a:ext cx="5715000" cy="3619500"/>
          </a:xfrm>
          <a:prstGeom prst="roundRect">
            <a:avLst>
              <a:gd fmla="val 315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32"/>
          <p:cNvSpPr/>
          <p:nvPr/>
        </p:nvSpPr>
        <p:spPr>
          <a:xfrm>
            <a:off x="381000" y="952500"/>
            <a:ext cx="5715000" cy="381000"/>
          </a:xfrm>
          <a:prstGeom prst="roundRect">
            <a:avLst>
              <a:gd fmla="val 30000" name="adj"/>
            </a:avLst>
          </a:prstGeom>
          <a:solidFill>
            <a:srgbClr val="2563EB">
              <a:alpha val="1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32"/>
          <p:cNvSpPr txBox="1"/>
          <p:nvPr/>
        </p:nvSpPr>
        <p:spPr>
          <a:xfrm>
            <a:off x="523875" y="952500"/>
            <a:ext cx="54294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r>
              <a:t>Where Risk Is Concentrated (District View)</a:t>
            </a:r>
          </a:p>
        </p:txBody>
      </p:sp>
      <p:pic>
        <p:nvPicPr>
          <p:cNvPr id="238" name="Google Shape;238;p32"/>
          <p:cNvPicPr preferRelativeResize="0"/>
          <p:nvPr/>
        </p:nvPicPr>
        <p:blipFill rotWithShape="1">
          <a:blip r:embed="rId3">
            <a:alphaModFix/>
          </a:blip>
          <a:srcRect b="1428" l="0" r="0" t="1418"/>
          <a:stretch/>
        </p:blipFill>
        <p:spPr>
          <a:xfrm>
            <a:off x="476250" y="1428750"/>
            <a:ext cx="5524500" cy="3048000"/>
          </a:xfrm>
          <a:prstGeom prst="roundRect">
            <a:avLst>
              <a:gd fmla="val 2500" name="adj"/>
            </a:avLst>
          </a:prstGeom>
          <a:noFill/>
          <a:ln>
            <a:noFill/>
          </a:ln>
        </p:spPr>
      </p:pic>
      <p:grpSp>
        <p:nvGrpSpPr>
          <p:cNvPr id="239" name="Google Shape;239;p32"/>
          <p:cNvGrpSpPr/>
          <p:nvPr/>
        </p:nvGrpSpPr>
        <p:grpSpPr>
          <a:xfrm>
            <a:off x="6286500" y="952500"/>
            <a:ext cx="2476500" cy="1714500"/>
            <a:chOff x="6286500" y="952500"/>
            <a:chExt cx="2476500" cy="1714500"/>
          </a:xfrm>
        </p:grpSpPr>
        <p:sp>
          <p:nvSpPr>
            <p:cNvPr id="240" name="Google Shape;240;p32"/>
            <p:cNvSpPr/>
            <p:nvPr/>
          </p:nvSpPr>
          <p:spPr>
            <a:xfrm>
              <a:off x="6286500" y="952500"/>
              <a:ext cx="2476500" cy="1714500"/>
            </a:xfrm>
            <a:prstGeom prst="roundRect">
              <a:avLst>
                <a:gd fmla="val 6666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32"/>
            <p:cNvSpPr/>
            <p:nvPr/>
          </p:nvSpPr>
          <p:spPr>
            <a:xfrm>
              <a:off x="6286500" y="952500"/>
              <a:ext cx="2476500" cy="381000"/>
            </a:xfrm>
            <a:prstGeom prst="roundRect">
              <a:avLst>
                <a:gd fmla="val 30000" name="adj"/>
              </a:avLst>
            </a:prstGeom>
            <a:solidFill>
              <a:srgbClr val="2563EB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32"/>
            <p:cNvSpPr txBox="1"/>
            <p:nvPr/>
          </p:nvSpPr>
          <p:spPr>
            <a:xfrm>
              <a:off x="6429375" y="952500"/>
              <a:ext cx="21909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r>
                <a:t>District-level risk hotspots</a:t>
              </a:r>
            </a:p>
          </p:txBody>
        </p:sp>
        <p:pic>
          <p:nvPicPr>
            <p:cNvPr id="243" name="Google Shape;243;p32"/>
            <p:cNvPicPr preferRelativeResize="0"/>
            <p:nvPr/>
          </p:nvPicPr>
          <p:blipFill rotWithShape="1">
            <a:blip r:embed="rId4">
              <a:alphaModFix/>
            </a:blip>
            <a:srcRect b="12372" l="0" r="0" t="12372"/>
            <a:stretch/>
          </p:blipFill>
          <p:spPr>
            <a:xfrm>
              <a:off x="6381750" y="1428750"/>
              <a:ext cx="2286000" cy="1143000"/>
            </a:xfrm>
            <a:prstGeom prst="roundRect">
              <a:avLst>
                <a:gd fmla="val 6666" name="adj"/>
              </a:avLst>
            </a:prstGeom>
            <a:noFill/>
            <a:ln>
              <a:noFill/>
            </a:ln>
          </p:spPr>
        </p:pic>
      </p:grpSp>
      <p:sp>
        <p:nvSpPr>
          <p:cNvPr id="244" name="Google Shape;244;p32"/>
          <p:cNvSpPr txBox="1"/>
          <p:nvPr/>
        </p:nvSpPr>
        <p:spPr>
          <a:xfrm>
            <a:off x="6286500" y="2857500"/>
            <a:ext cx="2476500" cy="1714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95250" lIns="95250" spcFirstLastPara="1" rIns="95250" wrap="square" tIns="95250">
            <a:noAutofit/>
          </a:bodyPr>
          <a:lstStyle/>
          <a:p>
            <a:r>
              <a:t>Map insights help teams focus limited field capacity where potential misuse is highest.</a:t>
            </a:r>
          </a:p>
        </p:txBody>
      </p:sp>
      <p:sp>
        <p:nvSpPr>
          <p:cNvPr id="245" name="Google Shape;245;p3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32"/>
          <p:cNvSpPr txBox="1"/>
          <p:nvPr/>
        </p:nvSpPr>
        <p:spPr>
          <a:xfrm>
            <a:off x="411491" y="240030"/>
            <a:ext cx="8367000" cy="487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r>
              <a:t>Dashboard View: Risk targeting by location and beneficiary segment</a:t>
            </a:r>
          </a:p>
        </p:txBody>
      </p:sp>
      <p:sp>
        <p:nvSpPr>
          <p:cNvPr id="247" name="Google Shape;247;p32"/>
          <p:cNvSpPr txBox="1"/>
          <p:nvPr/>
        </p:nvSpPr>
        <p:spPr>
          <a:xfrm>
            <a:off x="411491" y="4834890"/>
            <a:ext cx="8298300" cy="123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800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Advance-RAG | KG Fraud Intelligence</a:t>
            </a:r>
            <a:endParaRPr b="0" sz="800">
              <a:solidFill>
                <a:srgbClr val="94A3B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33"/>
          <p:cNvSpPr txBox="1"/>
          <p:nvPr/>
        </p:nvSpPr>
        <p:spPr>
          <a:xfrm>
            <a:off x="411491" y="240030"/>
            <a:ext cx="8367000" cy="492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r>
              <a:t>Live Alerts For Investigation Teams</a:t>
            </a:r>
          </a:p>
        </p:txBody>
      </p:sp>
      <p:sp>
        <p:nvSpPr>
          <p:cNvPr id="254" name="Google Shape;254;p33"/>
          <p:cNvSpPr/>
          <p:nvPr/>
        </p:nvSpPr>
        <p:spPr>
          <a:xfrm>
            <a:off x="411491" y="1097280"/>
            <a:ext cx="4252200" cy="1817400"/>
          </a:xfrm>
          <a:prstGeom prst="roundRect">
            <a:avLst>
              <a:gd fmla="val 6289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33"/>
          <p:cNvSpPr txBox="1"/>
          <p:nvPr/>
        </p:nvSpPr>
        <p:spPr>
          <a:xfrm>
            <a:off x="411491" y="1097280"/>
            <a:ext cx="4252200" cy="169200"/>
          </a:xfrm>
          <a:prstGeom prst="rect">
            <a:avLst/>
          </a:prstGeom>
          <a:solidFill>
            <a:srgbClr val="2563EB">
              <a:alpha val="1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r>
              <a:t>Duplicate identity alerts</a:t>
            </a:r>
          </a:p>
        </p:txBody>
      </p:sp>
      <p:pic>
        <p:nvPicPr>
          <p:cNvPr id="256" name="Google Shape;256;p33"/>
          <p:cNvPicPr preferRelativeResize="0"/>
          <p:nvPr/>
        </p:nvPicPr>
        <p:blipFill rotWithShape="1">
          <a:blip r:embed="rId3">
            <a:alphaModFix/>
          </a:blip>
          <a:srcRect b="37461" l="0" r="0" t="37464"/>
          <a:stretch/>
        </p:blipFill>
        <p:spPr>
          <a:xfrm>
            <a:off x="493789" y="1428750"/>
            <a:ext cx="4087500" cy="139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33"/>
          <p:cNvSpPr/>
          <p:nvPr/>
        </p:nvSpPr>
        <p:spPr>
          <a:xfrm>
            <a:off x="411491" y="3034665"/>
            <a:ext cx="4252200" cy="1680300"/>
          </a:xfrm>
          <a:prstGeom prst="roundRect">
            <a:avLst>
              <a:gd fmla="val 6802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33"/>
          <p:cNvSpPr txBox="1"/>
          <p:nvPr/>
        </p:nvSpPr>
        <p:spPr>
          <a:xfrm>
            <a:off x="411491" y="3034665"/>
            <a:ext cx="4252200" cy="169200"/>
          </a:xfrm>
          <a:prstGeom prst="rect">
            <a:avLst/>
          </a:prstGeom>
          <a:solidFill>
            <a:srgbClr val="2563EB">
              <a:alpha val="1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r>
              <a:t>Operator integrity alerts</a:t>
            </a:r>
          </a:p>
        </p:txBody>
      </p:sp>
      <p:pic>
        <p:nvPicPr>
          <p:cNvPr id="259" name="Google Shape;259;p33"/>
          <p:cNvPicPr preferRelativeResize="0"/>
          <p:nvPr/>
        </p:nvPicPr>
        <p:blipFill rotWithShape="1">
          <a:blip r:embed="rId4">
            <a:alphaModFix/>
          </a:blip>
          <a:srcRect b="38598" l="0" r="0" t="38598"/>
          <a:stretch/>
        </p:blipFill>
        <p:spPr>
          <a:xfrm>
            <a:off x="493789" y="3368040"/>
            <a:ext cx="4087500" cy="1251600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33"/>
          <p:cNvSpPr txBox="1"/>
          <p:nvPr/>
        </p:nvSpPr>
        <p:spPr>
          <a:xfrm>
            <a:off x="4857750" y="1095375"/>
            <a:ext cx="3905400" cy="2345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r>
              <a:t>Each alert includes confidence, reason, and severity so teams can prioritize quickly.</a:t>
            </a:r>
          </a:p>
        </p:txBody>
      </p:sp>
      <p:sp>
        <p:nvSpPr>
          <p:cNvPr id="261" name="Google Shape;261;p33"/>
          <p:cNvSpPr txBox="1"/>
          <p:nvPr/>
        </p:nvSpPr>
        <p:spPr>
          <a:xfrm>
            <a:off x="411491" y="4834890"/>
            <a:ext cx="8298300" cy="123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800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Advance-RAG | KG Fraud Intelligence</a:t>
            </a:r>
            <a:endParaRPr b="0" sz="800">
              <a:solidFill>
                <a:srgbClr val="94A3B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2" name="Google Shape;262;p33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34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34"/>
          <p:cNvSpPr txBox="1"/>
          <p:nvPr/>
        </p:nvSpPr>
        <p:spPr>
          <a:xfrm>
            <a:off x="411480" y="240030"/>
            <a:ext cx="8367000" cy="492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r>
              <a:t>Case Drill-Down For Auditors</a:t>
            </a:r>
          </a:p>
        </p:txBody>
      </p:sp>
      <p:sp>
        <p:nvSpPr>
          <p:cNvPr id="270" name="Google Shape;270;p34"/>
          <p:cNvSpPr/>
          <p:nvPr/>
        </p:nvSpPr>
        <p:spPr>
          <a:xfrm>
            <a:off x="411480" y="1097280"/>
            <a:ext cx="8298300" cy="3619500"/>
          </a:xfrm>
          <a:prstGeom prst="roundRect">
            <a:avLst>
              <a:gd fmla="val 315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34"/>
          <p:cNvSpPr txBox="1"/>
          <p:nvPr/>
        </p:nvSpPr>
        <p:spPr>
          <a:xfrm>
            <a:off x="411480" y="1097280"/>
            <a:ext cx="8298300" cy="169200"/>
          </a:xfrm>
          <a:prstGeom prst="rect">
            <a:avLst/>
          </a:prstGeom>
          <a:solidFill>
            <a:srgbClr val="2563EB">
              <a:alpha val="10000"/>
            </a:srgbClr>
          </a:solidFill>
          <a:ln>
            <a:noFill/>
          </a:ln>
        </p:spPr>
        <p:txBody>
          <a:bodyPr anchorCtr="0" anchor="ctr" bIns="0" lIns="190500" spcFirstLastPara="1" rIns="0" wrap="square" tIns="0">
            <a:spAutoFit/>
          </a:bodyPr>
          <a:lstStyle/>
          <a:p>
            <a:r>
              <a:t>DETAILED AUDIT VIEW</a:t>
            </a:r>
          </a:p>
        </p:txBody>
      </p:sp>
      <p:pic>
        <p:nvPicPr>
          <p:cNvPr id="272" name="Google Shape;272;p34"/>
          <p:cNvPicPr preferRelativeResize="0"/>
          <p:nvPr/>
        </p:nvPicPr>
        <p:blipFill rotWithShape="1">
          <a:blip r:embed="rId3">
            <a:alphaModFix/>
          </a:blip>
          <a:srcRect b="19075" l="0" r="0" t="19075"/>
          <a:stretch/>
        </p:blipFill>
        <p:spPr>
          <a:xfrm>
            <a:off x="514350" y="1476375"/>
            <a:ext cx="8092500" cy="3143400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34"/>
          <p:cNvSpPr txBox="1"/>
          <p:nvPr/>
        </p:nvSpPr>
        <p:spPr>
          <a:xfrm>
            <a:off x="411480" y="4834890"/>
            <a:ext cx="8298300" cy="123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800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Advance-RAG | KG Fraud Intelligence</a:t>
            </a:r>
            <a:endParaRPr b="0" sz="800">
              <a:solidFill>
                <a:srgbClr val="94A3B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35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35"/>
          <p:cNvSpPr txBox="1"/>
          <p:nvPr/>
        </p:nvSpPr>
        <p:spPr>
          <a:xfrm>
            <a:off x="411491" y="240030"/>
            <a:ext cx="8367000" cy="492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r>
              <a:t>Accuracy: What We Can Claim Today</a:t>
            </a:r>
          </a:p>
        </p:txBody>
      </p:sp>
      <p:grpSp>
        <p:nvGrpSpPr>
          <p:cNvPr id="281" name="Google Shape;281;p35"/>
          <p:cNvGrpSpPr/>
          <p:nvPr/>
        </p:nvGrpSpPr>
        <p:grpSpPr>
          <a:xfrm>
            <a:off x="411480" y="1333500"/>
            <a:ext cx="2619300" cy="2667000"/>
            <a:chOff x="411480" y="1333500"/>
            <a:chExt cx="2619300" cy="2667000"/>
          </a:xfrm>
        </p:grpSpPr>
        <p:sp>
          <p:nvSpPr>
            <p:cNvPr id="282" name="Google Shape;282;p35"/>
            <p:cNvSpPr/>
            <p:nvPr/>
          </p:nvSpPr>
          <p:spPr>
            <a:xfrm>
              <a:off x="411480" y="1333500"/>
              <a:ext cx="2619300" cy="2667000"/>
            </a:xfrm>
            <a:prstGeom prst="roundRect">
              <a:avLst>
                <a:gd fmla="val 4363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35"/>
            <p:cNvSpPr txBox="1"/>
            <p:nvPr/>
          </p:nvSpPr>
          <p:spPr>
            <a:xfrm>
              <a:off x="411480" y="1333500"/>
              <a:ext cx="26193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42875" spcFirstLastPara="1" rIns="0" wrap="square" tIns="0">
              <a:noAutofit/>
            </a:bodyPr>
            <a:lstStyle/>
            <a:p>
              <a:r>
                <a:t>How We Define Accuracy</a:t>
              </a:r>
            </a:p>
          </p:txBody>
        </p:sp>
        <p:sp>
          <p:nvSpPr>
            <p:cNvPr id="284" name="Google Shape;284;p35"/>
            <p:cNvSpPr txBox="1"/>
            <p:nvPr/>
          </p:nvSpPr>
          <p:spPr>
            <a:xfrm>
              <a:off x="554355" y="1714500"/>
              <a:ext cx="2333700" cy="219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r>
                <a:t>We track precision (true alerts), recall (missed fraud), false-positive rate, and time-to-triage.</a:t>
              </a:r>
            </a:p>
          </p:txBody>
        </p:sp>
      </p:grpSp>
      <p:grpSp>
        <p:nvGrpSpPr>
          <p:cNvPr id="285" name="Google Shape;285;p35"/>
          <p:cNvGrpSpPr/>
          <p:nvPr/>
        </p:nvGrpSpPr>
        <p:grpSpPr>
          <a:xfrm>
            <a:off x="3262313" y="1333500"/>
            <a:ext cx="2619300" cy="2667000"/>
            <a:chOff x="3262313" y="1333500"/>
            <a:chExt cx="2619300" cy="2667000"/>
          </a:xfrm>
        </p:grpSpPr>
        <p:sp>
          <p:nvSpPr>
            <p:cNvPr id="286" name="Google Shape;286;p35"/>
            <p:cNvSpPr/>
            <p:nvPr/>
          </p:nvSpPr>
          <p:spPr>
            <a:xfrm>
              <a:off x="3262313" y="1333500"/>
              <a:ext cx="2619300" cy="2667000"/>
            </a:xfrm>
            <a:prstGeom prst="roundRect">
              <a:avLst>
                <a:gd fmla="val 4363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" name="Google Shape;287;p35"/>
            <p:cNvSpPr txBox="1"/>
            <p:nvPr/>
          </p:nvSpPr>
          <p:spPr>
            <a:xfrm>
              <a:off x="3262313" y="1333500"/>
              <a:ext cx="26193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42875" spcFirstLastPara="1" rIns="0" wrap="square" tIns="0">
              <a:noAutofit/>
            </a:bodyPr>
            <a:lstStyle/>
            <a:p>
              <a:r>
                <a:t>Current Signal Quality</a:t>
              </a:r>
            </a:p>
          </p:txBody>
        </p:sp>
        <p:sp>
          <p:nvSpPr>
            <p:cNvPr id="288" name="Google Shape;288;p35"/>
            <p:cNvSpPr txBox="1"/>
            <p:nvPr/>
          </p:nvSpPr>
          <p:spPr>
            <a:xfrm>
              <a:off x="3405188" y="1714500"/>
              <a:ext cx="2333700" cy="219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r>
                <a:t>Current rule confidence in this deck ranges from 85% to 92%. This reflects rule strength, not final confirmed fraud outcomes.</a:t>
              </a:r>
            </a:p>
          </p:txBody>
        </p:sp>
      </p:grpSp>
      <p:grpSp>
        <p:nvGrpSpPr>
          <p:cNvPr id="289" name="Google Shape;289;p35"/>
          <p:cNvGrpSpPr/>
          <p:nvPr/>
        </p:nvGrpSpPr>
        <p:grpSpPr>
          <a:xfrm>
            <a:off x="6113145" y="1333500"/>
            <a:ext cx="2619300" cy="2667000"/>
            <a:chOff x="6113145" y="1333500"/>
            <a:chExt cx="2619300" cy="2667000"/>
          </a:xfrm>
        </p:grpSpPr>
        <p:sp>
          <p:nvSpPr>
            <p:cNvPr id="290" name="Google Shape;290;p35"/>
            <p:cNvSpPr/>
            <p:nvPr/>
          </p:nvSpPr>
          <p:spPr>
            <a:xfrm>
              <a:off x="6113145" y="1333500"/>
              <a:ext cx="2619300" cy="2667000"/>
            </a:xfrm>
            <a:prstGeom prst="roundRect">
              <a:avLst>
                <a:gd fmla="val 4363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35"/>
            <p:cNvSpPr txBox="1"/>
            <p:nvPr/>
          </p:nvSpPr>
          <p:spPr>
            <a:xfrm>
              <a:off x="6113145" y="1333500"/>
              <a:ext cx="26193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42875" spcFirstLastPara="1" rIns="0" wrap="square" tIns="0">
              <a:noAutofit/>
            </a:bodyPr>
            <a:lstStyle/>
            <a:p>
              <a:r>
                <a:t>Practical Goal</a:t>
              </a:r>
            </a:p>
          </p:txBody>
        </p:sp>
        <p:sp>
          <p:nvSpPr>
            <p:cNvPr id="292" name="Google Shape;292;p35"/>
            <p:cNvSpPr txBox="1"/>
            <p:nvPr/>
          </p:nvSpPr>
          <p:spPr>
            <a:xfrm>
              <a:off x="6256020" y="1714500"/>
              <a:ext cx="2333700" cy="219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r>
                <a:t>Increase true positives while reducing unnecessary field investigations and citizen friction.</a:t>
              </a:r>
            </a:p>
          </p:txBody>
        </p:sp>
      </p:grpSp>
      <p:sp>
        <p:nvSpPr>
          <p:cNvPr id="293" name="Google Shape;293;p35"/>
          <p:cNvSpPr txBox="1"/>
          <p:nvPr/>
        </p:nvSpPr>
        <p:spPr>
          <a:xfrm>
            <a:off x="411491" y="4834890"/>
            <a:ext cx="8298300" cy="123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Advance-RAG | KG Fraud Intelligence</a:t>
            </a:r>
            <a:endParaRPr b="0" i="0" sz="800">
              <a:solidFill>
                <a:srgbClr val="94A3B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36"/>
          <p:cNvSpPr txBox="1"/>
          <p:nvPr/>
        </p:nvSpPr>
        <p:spPr>
          <a:xfrm>
            <a:off x="411480" y="240030"/>
            <a:ext cx="8367000" cy="492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r>
              <a:t>Evaluation Process (Operational)</a:t>
            </a:r>
          </a:p>
        </p:txBody>
      </p:sp>
      <p:sp>
        <p:nvSpPr>
          <p:cNvPr id="300" name="Google Shape;300;p36"/>
          <p:cNvSpPr/>
          <p:nvPr/>
        </p:nvSpPr>
        <p:spPr>
          <a:xfrm>
            <a:off x="411480" y="1524000"/>
            <a:ext cx="1238400" cy="1428900"/>
          </a:xfrm>
          <a:prstGeom prst="roundRect">
            <a:avLst>
              <a:gd fmla="val 9230" name="adj"/>
            </a:avLst>
          </a:prstGeom>
          <a:solidFill>
            <a:srgbClr val="FFFFFF"/>
          </a:solidFill>
          <a:ln cap="flat" cmpd="sng" w="143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t" bIns="95250" lIns="95250" spcFirstLastPara="1" rIns="95250" wrap="square" tIns="95250">
            <a:noAutofit/>
          </a:bodyPr>
          <a:lstStyle/>
          <a:p>
            <a:r>
              <a:t>01 | Detect | System flags suspicious cases based on rules and graph links.</a:t>
            </a:r>
          </a:p>
        </p:txBody>
      </p:sp>
      <p:sp>
        <p:nvSpPr>
          <p:cNvPr id="301" name="Google Shape;301;p36"/>
          <p:cNvSpPr/>
          <p:nvPr/>
        </p:nvSpPr>
        <p:spPr>
          <a:xfrm>
            <a:off x="1840230" y="1524000"/>
            <a:ext cx="1238400" cy="1428900"/>
          </a:xfrm>
          <a:prstGeom prst="roundRect">
            <a:avLst>
              <a:gd fmla="val 9230" name="adj"/>
            </a:avLst>
          </a:prstGeom>
          <a:solidFill>
            <a:srgbClr val="FFFFFF"/>
          </a:solidFill>
          <a:ln cap="flat" cmpd="sng" w="143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t" bIns="95250" lIns="95250" spcFirstLastPara="1" rIns="95250" wrap="square" tIns="95250">
            <a:noAutofit/>
          </a:bodyPr>
          <a:lstStyle/>
          <a:p>
            <a:r>
              <a:t>02 | Explain | Each alert includes evidence path and reason for transparency.</a:t>
            </a:r>
          </a:p>
        </p:txBody>
      </p:sp>
      <p:sp>
        <p:nvSpPr>
          <p:cNvPr id="302" name="Google Shape;302;p36"/>
          <p:cNvSpPr/>
          <p:nvPr/>
        </p:nvSpPr>
        <p:spPr>
          <a:xfrm>
            <a:off x="3268980" y="1524000"/>
            <a:ext cx="1238400" cy="1428900"/>
          </a:xfrm>
          <a:prstGeom prst="roundRect">
            <a:avLst>
              <a:gd fmla="val 9230" name="adj"/>
            </a:avLst>
          </a:prstGeom>
          <a:solidFill>
            <a:srgbClr val="FFFFFF"/>
          </a:solidFill>
          <a:ln cap="flat" cmpd="sng" w="143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t" bIns="95250" lIns="95250" spcFirstLastPara="1" rIns="95250" wrap="square" tIns="95250">
            <a:noAutofit/>
          </a:bodyPr>
          <a:lstStyle/>
          <a:p>
            <a:r>
              <a:t>03 | Prioritize | Cases are ranked by severity and confidence.</a:t>
            </a:r>
          </a:p>
        </p:txBody>
      </p:sp>
      <p:sp>
        <p:nvSpPr>
          <p:cNvPr id="303" name="Google Shape;303;p36"/>
          <p:cNvSpPr/>
          <p:nvPr/>
        </p:nvSpPr>
        <p:spPr>
          <a:xfrm>
            <a:off x="4697730" y="1524000"/>
            <a:ext cx="1238400" cy="1428900"/>
          </a:xfrm>
          <a:prstGeom prst="roundRect">
            <a:avLst>
              <a:gd fmla="val 9230" name="adj"/>
            </a:avLst>
          </a:prstGeom>
          <a:solidFill>
            <a:srgbClr val="FFFFFF"/>
          </a:solidFill>
          <a:ln cap="flat" cmpd="sng" w="143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t" bIns="95250" lIns="95250" spcFirstLastPara="1" rIns="95250" wrap="square" tIns="95250">
            <a:noAutofit/>
          </a:bodyPr>
          <a:lstStyle/>
          <a:p>
            <a:r>
              <a:t>04 | Assign | High-priority cases are sent to responsible teams.</a:t>
            </a:r>
          </a:p>
        </p:txBody>
      </p:sp>
      <p:sp>
        <p:nvSpPr>
          <p:cNvPr id="304" name="Google Shape;304;p36"/>
          <p:cNvSpPr/>
          <p:nvPr/>
        </p:nvSpPr>
        <p:spPr>
          <a:xfrm>
            <a:off x="6126480" y="1524000"/>
            <a:ext cx="1238400" cy="1428900"/>
          </a:xfrm>
          <a:prstGeom prst="roundRect">
            <a:avLst>
              <a:gd fmla="val 9230" name="adj"/>
            </a:avLst>
          </a:prstGeom>
          <a:solidFill>
            <a:srgbClr val="FFFFFF"/>
          </a:solidFill>
          <a:ln cap="flat" cmpd="sng" w="143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t" bIns="95250" lIns="95250" spcFirstLastPara="1" rIns="95250" wrap="square" tIns="95250">
            <a:noAutofit/>
          </a:bodyPr>
          <a:lstStyle/>
          <a:p>
            <a:r>
              <a:t>05 | Verify | Field audit confirms, rejects, or updates the case.</a:t>
            </a:r>
          </a:p>
        </p:txBody>
      </p:sp>
      <p:sp>
        <p:nvSpPr>
          <p:cNvPr id="305" name="Google Shape;305;p36"/>
          <p:cNvSpPr/>
          <p:nvPr/>
        </p:nvSpPr>
        <p:spPr>
          <a:xfrm>
            <a:off x="7555230" y="1524000"/>
            <a:ext cx="1238400" cy="1428900"/>
          </a:xfrm>
          <a:prstGeom prst="roundRect">
            <a:avLst>
              <a:gd fmla="val 9230" name="adj"/>
            </a:avLst>
          </a:prstGeom>
          <a:solidFill>
            <a:srgbClr val="FFFFFF"/>
          </a:solidFill>
          <a:ln cap="flat" cmpd="sng" w="143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t" bIns="95250" lIns="95250" spcFirstLastPara="1" rIns="95250" wrap="square" tIns="95250">
            <a:noAutofit/>
          </a:bodyPr>
          <a:lstStyle/>
          <a:p>
            <a:r>
              <a:t>06 | Learn | Outcomes feed back to improve rules and thresholds.</a:t>
            </a:r>
          </a:p>
        </p:txBody>
      </p:sp>
      <p:sp>
        <p:nvSpPr>
          <p:cNvPr id="306" name="Google Shape;306;p36"/>
          <p:cNvSpPr txBox="1"/>
          <p:nvPr/>
        </p:nvSpPr>
        <p:spPr>
          <a:xfrm>
            <a:off x="411491" y="4834890"/>
            <a:ext cx="82983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Advance-RAG | KG Fraud Intelligence</a:t>
            </a:r>
            <a:endParaRPr sz="1100"/>
          </a:p>
        </p:txBody>
      </p:sp>
      <p:pic>
        <p:nvPicPr>
          <p:cNvPr id="307" name="Google Shape;307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47825" y="2233613"/>
            <a:ext cx="176100" cy="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76575" y="2233613"/>
            <a:ext cx="176100" cy="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05325" y="2233613"/>
            <a:ext cx="176100" cy="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34075" y="2233613"/>
            <a:ext cx="176100" cy="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62825" y="2233613"/>
            <a:ext cx="176100" cy="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36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3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37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37"/>
          <p:cNvSpPr txBox="1"/>
          <p:nvPr/>
        </p:nvSpPr>
        <p:spPr>
          <a:xfrm>
            <a:off x="411480" y="240030"/>
            <a:ext cx="8367000" cy="492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r>
              <a:t>What Citizens, Teams, And Leadership Gain</a:t>
            </a:r>
          </a:p>
        </p:txBody>
      </p:sp>
      <p:grpSp>
        <p:nvGrpSpPr>
          <p:cNvPr id="320" name="Google Shape;320;p37"/>
          <p:cNvGrpSpPr/>
          <p:nvPr/>
        </p:nvGrpSpPr>
        <p:grpSpPr>
          <a:xfrm>
            <a:off x="411480" y="1143000"/>
            <a:ext cx="8320965" cy="3238500"/>
            <a:chOff x="411480" y="1143000"/>
            <a:chExt cx="8320965" cy="3238500"/>
          </a:xfrm>
        </p:grpSpPr>
        <p:sp>
          <p:nvSpPr>
            <p:cNvPr id="321" name="Google Shape;321;p37"/>
            <p:cNvSpPr/>
            <p:nvPr/>
          </p:nvSpPr>
          <p:spPr>
            <a:xfrm>
              <a:off x="411480" y="1143000"/>
              <a:ext cx="2619300" cy="3238500"/>
            </a:xfrm>
            <a:prstGeom prst="roundRect">
              <a:avLst>
                <a:gd fmla="val 4363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" name="Google Shape;322;p37"/>
            <p:cNvSpPr/>
            <p:nvPr/>
          </p:nvSpPr>
          <p:spPr>
            <a:xfrm>
              <a:off x="411480" y="1143000"/>
              <a:ext cx="2619300" cy="285900"/>
            </a:xfrm>
            <a:prstGeom prst="roundRect">
              <a:avLst>
                <a:gd fmla="val 40000" name="adj"/>
              </a:avLst>
            </a:prstGeom>
            <a:solidFill>
              <a:srgbClr val="2563EB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" name="Google Shape;323;p37"/>
            <p:cNvSpPr/>
            <p:nvPr/>
          </p:nvSpPr>
          <p:spPr>
            <a:xfrm>
              <a:off x="411480" y="1285875"/>
              <a:ext cx="2619300" cy="142800"/>
            </a:xfrm>
            <a:prstGeom prst="rect">
              <a:avLst/>
            </a:prstGeom>
            <a:solidFill>
              <a:srgbClr val="2563EB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" name="Google Shape;324;p37"/>
            <p:cNvSpPr txBox="1"/>
            <p:nvPr/>
          </p:nvSpPr>
          <p:spPr>
            <a:xfrm>
              <a:off x="411480" y="1143000"/>
              <a:ext cx="26193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42875" spcFirstLastPara="1" rIns="0" wrap="square" tIns="0">
              <a:noAutofit/>
            </a:bodyPr>
            <a:lstStyle/>
            <a:p>
              <a:r>
                <a:t>Frontline Investigators</a:t>
              </a:r>
            </a:p>
          </p:txBody>
        </p:sp>
        <p:sp>
          <p:nvSpPr>
            <p:cNvPr id="325" name="Google Shape;325;p37"/>
            <p:cNvSpPr txBox="1"/>
            <p:nvPr/>
          </p:nvSpPr>
          <p:spPr>
            <a:xfrm>
              <a:off x="554355" y="1571625"/>
              <a:ext cx="23337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r>
                <a:t>Clear explanations, faster triage, and less manual digging per case.</a:t>
              </a:r>
            </a:p>
          </p:txBody>
        </p:sp>
        <p:sp>
          <p:nvSpPr>
            <p:cNvPr id="326" name="Google Shape;326;p37"/>
            <p:cNvSpPr/>
            <p:nvPr/>
          </p:nvSpPr>
          <p:spPr>
            <a:xfrm>
              <a:off x="3262313" y="1143000"/>
              <a:ext cx="2619300" cy="3238500"/>
            </a:xfrm>
            <a:prstGeom prst="roundRect">
              <a:avLst>
                <a:gd fmla="val 4363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p37"/>
            <p:cNvSpPr/>
            <p:nvPr/>
          </p:nvSpPr>
          <p:spPr>
            <a:xfrm>
              <a:off x="3262313" y="1143000"/>
              <a:ext cx="2619300" cy="285900"/>
            </a:xfrm>
            <a:prstGeom prst="roundRect">
              <a:avLst>
                <a:gd fmla="val 40000" name="adj"/>
              </a:avLst>
            </a:prstGeom>
            <a:solidFill>
              <a:srgbClr val="2563EB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37"/>
            <p:cNvSpPr/>
            <p:nvPr/>
          </p:nvSpPr>
          <p:spPr>
            <a:xfrm>
              <a:off x="3262313" y="1285875"/>
              <a:ext cx="2619300" cy="142800"/>
            </a:xfrm>
            <a:prstGeom prst="rect">
              <a:avLst/>
            </a:prstGeom>
            <a:solidFill>
              <a:srgbClr val="2563EB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p37"/>
            <p:cNvSpPr txBox="1"/>
            <p:nvPr/>
          </p:nvSpPr>
          <p:spPr>
            <a:xfrm>
              <a:off x="3262313" y="1143000"/>
              <a:ext cx="26193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42875" spcFirstLastPara="1" rIns="0" wrap="square" tIns="0">
              <a:noAutofit/>
            </a:bodyPr>
            <a:lstStyle/>
            <a:p>
              <a:r>
                <a:t>Program Operations</a:t>
              </a:r>
            </a:p>
          </p:txBody>
        </p:sp>
        <p:sp>
          <p:nvSpPr>
            <p:cNvPr id="330" name="Google Shape;330;p37"/>
            <p:cNvSpPr txBox="1"/>
            <p:nvPr/>
          </p:nvSpPr>
          <p:spPr>
            <a:xfrm>
              <a:off x="3405188" y="1571625"/>
              <a:ext cx="23337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r>
                <a:t>Better district visibility, better workload planning, and quicker interventions.</a:t>
              </a:r>
            </a:p>
          </p:txBody>
        </p:sp>
        <p:sp>
          <p:nvSpPr>
            <p:cNvPr id="331" name="Google Shape;331;p37"/>
            <p:cNvSpPr/>
            <p:nvPr/>
          </p:nvSpPr>
          <p:spPr>
            <a:xfrm>
              <a:off x="6113145" y="1143000"/>
              <a:ext cx="2619300" cy="3238500"/>
            </a:xfrm>
            <a:prstGeom prst="roundRect">
              <a:avLst>
                <a:gd fmla="val 4363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" name="Google Shape;332;p37"/>
            <p:cNvSpPr/>
            <p:nvPr/>
          </p:nvSpPr>
          <p:spPr>
            <a:xfrm>
              <a:off x="6113145" y="1143000"/>
              <a:ext cx="2619300" cy="285900"/>
            </a:xfrm>
            <a:prstGeom prst="roundRect">
              <a:avLst>
                <a:gd fmla="val 40000" name="adj"/>
              </a:avLst>
            </a:prstGeom>
            <a:solidFill>
              <a:srgbClr val="2563EB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" name="Google Shape;333;p37"/>
            <p:cNvSpPr/>
            <p:nvPr/>
          </p:nvSpPr>
          <p:spPr>
            <a:xfrm>
              <a:off x="6113145" y="1285875"/>
              <a:ext cx="2619300" cy="142800"/>
            </a:xfrm>
            <a:prstGeom prst="rect">
              <a:avLst/>
            </a:prstGeom>
            <a:solidFill>
              <a:srgbClr val="2563EB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" name="Google Shape;334;p37"/>
            <p:cNvSpPr txBox="1"/>
            <p:nvPr/>
          </p:nvSpPr>
          <p:spPr>
            <a:xfrm>
              <a:off x="6113145" y="1143000"/>
              <a:ext cx="26193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42875" spcFirstLastPara="1" rIns="0" wrap="square" tIns="0">
              <a:noAutofit/>
            </a:bodyPr>
            <a:lstStyle/>
            <a:p>
              <a:r>
                <a:t>Leadership</a:t>
              </a:r>
            </a:p>
          </p:txBody>
        </p:sp>
        <p:sp>
          <p:nvSpPr>
            <p:cNvPr id="335" name="Google Shape;335;p37"/>
            <p:cNvSpPr txBox="1"/>
            <p:nvPr/>
          </p:nvSpPr>
          <p:spPr>
            <a:xfrm>
              <a:off x="6256020" y="1571625"/>
              <a:ext cx="23337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r>
                <a:t>Reliable KPIs: precision trend, false-alert burden, closure speed, and service integrity.</a:t>
              </a:r>
            </a:p>
          </p:txBody>
        </p:sp>
      </p:grpSp>
      <p:sp>
        <p:nvSpPr>
          <p:cNvPr id="336" name="Google Shape;336;p37"/>
          <p:cNvSpPr txBox="1"/>
          <p:nvPr/>
        </p:nvSpPr>
        <p:spPr>
          <a:xfrm>
            <a:off x="411480" y="4834890"/>
            <a:ext cx="8298300" cy="123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800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Advance-RAG | KG Fraud Intelligence</a:t>
            </a:r>
            <a:endParaRPr b="0" sz="800">
              <a:solidFill>
                <a:srgbClr val="94A3B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38"/>
          <p:cNvSpPr txBox="1"/>
          <p:nvPr/>
        </p:nvSpPr>
        <p:spPr>
          <a:xfrm>
            <a:off x="67625" y="157125"/>
            <a:ext cx="4997700" cy="600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Architecture Flow (Data To Decision)</a:t>
            </a:r>
          </a:p>
        </p:txBody>
      </p:sp>
      <p:pic>
        <p:nvPicPr>
          <p:cNvPr id="342" name="Google Shape;342;p38" title="Screenshot 2026-04-20 14463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625" y="1075000"/>
            <a:ext cx="9076375" cy="379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39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39"/>
          <p:cNvSpPr txBox="1"/>
          <p:nvPr/>
        </p:nvSpPr>
        <p:spPr>
          <a:xfrm>
            <a:off x="409575" y="238125"/>
            <a:ext cx="8325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r>
              <a:t>Key Risks We Foresee For The Client</a:t>
            </a:r>
          </a:p>
        </p:txBody>
      </p:sp>
      <p:grpSp>
        <p:nvGrpSpPr>
          <p:cNvPr id="349" name="Google Shape;349;p39"/>
          <p:cNvGrpSpPr/>
          <p:nvPr/>
        </p:nvGrpSpPr>
        <p:grpSpPr>
          <a:xfrm>
            <a:off x="409575" y="952500"/>
            <a:ext cx="4048200" cy="1190700"/>
            <a:chOff x="409575" y="952500"/>
            <a:chExt cx="4048200" cy="1190700"/>
          </a:xfrm>
        </p:grpSpPr>
        <p:sp>
          <p:nvSpPr>
            <p:cNvPr id="350" name="Google Shape;350;p39"/>
            <p:cNvSpPr/>
            <p:nvPr/>
          </p:nvSpPr>
          <p:spPr>
            <a:xfrm>
              <a:off x="409575" y="952500"/>
              <a:ext cx="4048200" cy="1190700"/>
            </a:xfrm>
            <a:prstGeom prst="roundRect">
              <a:avLst>
                <a:gd fmla="val 64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" name="Google Shape;351;p39"/>
            <p:cNvSpPr txBox="1"/>
            <p:nvPr/>
          </p:nvSpPr>
          <p:spPr>
            <a:xfrm>
              <a:off x="552450" y="1000125"/>
              <a:ext cx="3762300" cy="10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r>
                <a:t>1. DATA QUALITY RISK</a:t>
              </a:r>
            </a:p>
            <a:p>
              <a:r>
                <a:t>- Incomplete or inconsistent beneficiary records can create noisy alerts.</a:t>
              </a:r>
            </a:p>
            <a:p>
              <a:r>
                <a:t>- Mitigation: data quality checks, mandatory fields, and source-level trust scoring.</a:t>
              </a:r>
            </a:p>
          </p:txBody>
        </p:sp>
      </p:grpSp>
      <p:grpSp>
        <p:nvGrpSpPr>
          <p:cNvPr id="352" name="Google Shape;352;p39"/>
          <p:cNvGrpSpPr/>
          <p:nvPr/>
        </p:nvGrpSpPr>
        <p:grpSpPr>
          <a:xfrm>
            <a:off x="4686300" y="952500"/>
            <a:ext cx="4048200" cy="1190700"/>
            <a:chOff x="4686300" y="952500"/>
            <a:chExt cx="4048200" cy="1190700"/>
          </a:xfrm>
        </p:grpSpPr>
        <p:sp>
          <p:nvSpPr>
            <p:cNvPr id="353" name="Google Shape;353;p39"/>
            <p:cNvSpPr/>
            <p:nvPr/>
          </p:nvSpPr>
          <p:spPr>
            <a:xfrm>
              <a:off x="4686300" y="952500"/>
              <a:ext cx="4048200" cy="1190700"/>
            </a:xfrm>
            <a:prstGeom prst="roundRect">
              <a:avLst>
                <a:gd fmla="val 64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" name="Google Shape;354;p39"/>
            <p:cNvSpPr txBox="1"/>
            <p:nvPr/>
          </p:nvSpPr>
          <p:spPr>
            <a:xfrm>
              <a:off x="4829175" y="1000125"/>
              <a:ext cx="3762300" cy="10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r>
                <a:t>2. FALSE-POSITIVE RISK</a:t>
              </a:r>
            </a:p>
            <a:p>
              <a:r>
                <a:t>- Too many weak alerts can overload teams and delay real cases.</a:t>
              </a:r>
            </a:p>
            <a:p>
              <a:r>
                <a:t>- Mitigation: confidence thresholds, severity tiers, and monthly precision reviews.</a:t>
              </a:r>
            </a:p>
          </p:txBody>
        </p:sp>
      </p:grpSp>
      <p:grpSp>
        <p:nvGrpSpPr>
          <p:cNvPr id="355" name="Google Shape;355;p39"/>
          <p:cNvGrpSpPr/>
          <p:nvPr/>
        </p:nvGrpSpPr>
        <p:grpSpPr>
          <a:xfrm>
            <a:off x="409575" y="2238375"/>
            <a:ext cx="4048200" cy="1190700"/>
            <a:chOff x="409575" y="2238375"/>
            <a:chExt cx="4048200" cy="1190700"/>
          </a:xfrm>
        </p:grpSpPr>
        <p:sp>
          <p:nvSpPr>
            <p:cNvPr id="356" name="Google Shape;356;p39"/>
            <p:cNvSpPr/>
            <p:nvPr/>
          </p:nvSpPr>
          <p:spPr>
            <a:xfrm>
              <a:off x="409575" y="2238375"/>
              <a:ext cx="4048200" cy="1190700"/>
            </a:xfrm>
            <a:prstGeom prst="roundRect">
              <a:avLst>
                <a:gd fmla="val 64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p39"/>
            <p:cNvSpPr txBox="1"/>
            <p:nvPr/>
          </p:nvSpPr>
          <p:spPr>
            <a:xfrm>
              <a:off x="552450" y="2286000"/>
              <a:ext cx="3762300" cy="10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r>
                <a:t>3. PRIVACY AND GOVERNANCE RISK</a:t>
              </a:r>
            </a:p>
            <a:p>
              <a:r>
                <a:t>- Sensitive citizen data can be exposed if controls are weak.</a:t>
              </a:r>
            </a:p>
            <a:p>
              <a:r>
                <a:t>- Mitigation: role-based access, masking, audit logs, and retention policies.</a:t>
              </a:r>
            </a:p>
          </p:txBody>
        </p:sp>
      </p:grpSp>
      <p:grpSp>
        <p:nvGrpSpPr>
          <p:cNvPr id="358" name="Google Shape;358;p39"/>
          <p:cNvGrpSpPr/>
          <p:nvPr/>
        </p:nvGrpSpPr>
        <p:grpSpPr>
          <a:xfrm>
            <a:off x="4686300" y="2238375"/>
            <a:ext cx="4048200" cy="1190700"/>
            <a:chOff x="4686300" y="2238375"/>
            <a:chExt cx="4048200" cy="1190700"/>
          </a:xfrm>
        </p:grpSpPr>
        <p:sp>
          <p:nvSpPr>
            <p:cNvPr id="359" name="Google Shape;359;p39"/>
            <p:cNvSpPr/>
            <p:nvPr/>
          </p:nvSpPr>
          <p:spPr>
            <a:xfrm>
              <a:off x="4686300" y="2238375"/>
              <a:ext cx="4048200" cy="1190700"/>
            </a:xfrm>
            <a:prstGeom prst="roundRect">
              <a:avLst>
                <a:gd fmla="val 64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" name="Google Shape;360;p39"/>
            <p:cNvSpPr txBox="1"/>
            <p:nvPr/>
          </p:nvSpPr>
          <p:spPr>
            <a:xfrm>
              <a:off x="4829175" y="2286000"/>
              <a:ext cx="3762300" cy="10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r>
                <a:t>4. OPERATIONAL ADOPTION RISK</a:t>
              </a:r>
            </a:p>
            <a:p>
              <a:r>
                <a:t>- Teams may not use the platform consistently without clear ownership.</a:t>
              </a:r>
            </a:p>
            <a:p>
              <a:r>
                <a:t>- Mitigation: clear SOPs, role-wise dashboards, and training-led rollout.</a:t>
              </a:r>
            </a:p>
          </p:txBody>
        </p:sp>
      </p:grpSp>
      <p:grpSp>
        <p:nvGrpSpPr>
          <p:cNvPr id="361" name="Google Shape;361;p39"/>
          <p:cNvGrpSpPr/>
          <p:nvPr/>
        </p:nvGrpSpPr>
        <p:grpSpPr>
          <a:xfrm>
            <a:off x="409575" y="3524250"/>
            <a:ext cx="4048200" cy="1190700"/>
            <a:chOff x="409575" y="3524250"/>
            <a:chExt cx="4048200" cy="1190700"/>
          </a:xfrm>
        </p:grpSpPr>
        <p:sp>
          <p:nvSpPr>
            <p:cNvPr id="362" name="Google Shape;362;p39"/>
            <p:cNvSpPr/>
            <p:nvPr/>
          </p:nvSpPr>
          <p:spPr>
            <a:xfrm>
              <a:off x="409575" y="3524250"/>
              <a:ext cx="4048200" cy="1190700"/>
            </a:xfrm>
            <a:prstGeom prst="roundRect">
              <a:avLst>
                <a:gd fmla="val 64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" name="Google Shape;363;p39"/>
            <p:cNvSpPr txBox="1"/>
            <p:nvPr/>
          </p:nvSpPr>
          <p:spPr>
            <a:xfrm>
              <a:off x="552450" y="3571875"/>
              <a:ext cx="3762300" cy="10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r>
                <a:t>5. POLICY MISMATCH RISK</a:t>
              </a:r>
            </a:p>
            <a:p>
              <a:r>
                <a:t>- Alert actions may conflict with local approval rules or legal process.</a:t>
              </a:r>
            </a:p>
            <a:p>
              <a:r>
                <a:t>- Mitigation: configurable workflows and policy sign-off before go-live.</a:t>
              </a:r>
            </a:p>
          </p:txBody>
        </p:sp>
      </p:grpSp>
      <p:grpSp>
        <p:nvGrpSpPr>
          <p:cNvPr id="364" name="Google Shape;364;p39"/>
          <p:cNvGrpSpPr/>
          <p:nvPr/>
        </p:nvGrpSpPr>
        <p:grpSpPr>
          <a:xfrm>
            <a:off x="4686300" y="3524250"/>
            <a:ext cx="4048200" cy="1190700"/>
            <a:chOff x="4686300" y="3524250"/>
            <a:chExt cx="4048200" cy="1190700"/>
          </a:xfrm>
        </p:grpSpPr>
        <p:sp>
          <p:nvSpPr>
            <p:cNvPr id="365" name="Google Shape;365;p39"/>
            <p:cNvSpPr/>
            <p:nvPr/>
          </p:nvSpPr>
          <p:spPr>
            <a:xfrm>
              <a:off x="4686300" y="3524250"/>
              <a:ext cx="4048200" cy="1190700"/>
            </a:xfrm>
            <a:prstGeom prst="roundRect">
              <a:avLst>
                <a:gd fmla="val 64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" name="Google Shape;366;p39"/>
            <p:cNvSpPr txBox="1"/>
            <p:nvPr/>
          </p:nvSpPr>
          <p:spPr>
            <a:xfrm>
              <a:off x="4829175" y="3571875"/>
              <a:ext cx="3762300" cy="10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r>
                <a:t>6. SCALING AND MAINTENANCE RISK</a:t>
              </a:r>
            </a:p>
            <a:p>
              <a:r>
                <a:t>- Alert volume can grow faster than review capacity.</a:t>
              </a:r>
            </a:p>
            <a:p>
              <a:r>
                <a:t>- Mitigation: phased rollout, SLA monitoring, and periodic rule tuning.</a:t>
              </a:r>
            </a:p>
          </p:txBody>
        </p:sp>
      </p:grpSp>
      <p:sp>
        <p:nvSpPr>
          <p:cNvPr id="367" name="Google Shape;367;p39"/>
          <p:cNvSpPr txBox="1"/>
          <p:nvPr/>
        </p:nvSpPr>
        <p:spPr>
          <a:xfrm>
            <a:off x="409575" y="4810125"/>
            <a:ext cx="83250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Advance-RAG | Client Discovery Questionnaire</a:t>
            </a:r>
            <a:endParaRPr sz="800">
              <a:solidFill>
                <a:srgbClr val="94A3B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40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40"/>
          <p:cNvSpPr txBox="1"/>
          <p:nvPr/>
        </p:nvSpPr>
        <p:spPr>
          <a:xfrm>
            <a:off x="411480" y="428625"/>
            <a:ext cx="83211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r>
              <a:t>Simple Closing Summary</a:t>
            </a:r>
          </a:p>
        </p:txBody>
      </p:sp>
      <p:grpSp>
        <p:nvGrpSpPr>
          <p:cNvPr id="374" name="Google Shape;374;p40"/>
          <p:cNvGrpSpPr/>
          <p:nvPr/>
        </p:nvGrpSpPr>
        <p:grpSpPr>
          <a:xfrm>
            <a:off x="411480" y="1524000"/>
            <a:ext cx="8321100" cy="1143000"/>
            <a:chOff x="411480" y="1524000"/>
            <a:chExt cx="8321100" cy="1143000"/>
          </a:xfrm>
        </p:grpSpPr>
        <p:sp>
          <p:nvSpPr>
            <p:cNvPr id="375" name="Google Shape;375;p40"/>
            <p:cNvSpPr/>
            <p:nvPr/>
          </p:nvSpPr>
          <p:spPr>
            <a:xfrm>
              <a:off x="411480" y="1524000"/>
              <a:ext cx="8321100" cy="1143000"/>
            </a:xfrm>
            <a:prstGeom prst="roundRect">
              <a:avLst>
                <a:gd fmla="val 100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" name="Google Shape;376;p40"/>
            <p:cNvSpPr txBox="1"/>
            <p:nvPr/>
          </p:nvSpPr>
          <p:spPr>
            <a:xfrm>
              <a:off x="411480" y="1524000"/>
              <a:ext cx="83211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38125" lIns="238125" spcFirstLastPara="1" rIns="238125" wrap="square" tIns="238125">
              <a:noAutofit/>
            </a:bodyPr>
            <a:lstStyle/>
            <a:p>
              <a:r>
                <a:t>OUR APPROACH</a:t>
              </a:r>
            </a:p>
            <a:p>
              <a:r>
                <a:t>Use connected data + transparent rules to find high-risk cases early and explain every alert clearly.</a:t>
              </a:r>
            </a:p>
          </p:txBody>
        </p:sp>
      </p:grpSp>
      <p:grpSp>
        <p:nvGrpSpPr>
          <p:cNvPr id="377" name="Google Shape;377;p40"/>
          <p:cNvGrpSpPr/>
          <p:nvPr/>
        </p:nvGrpSpPr>
        <p:grpSpPr>
          <a:xfrm>
            <a:off x="411480" y="2857500"/>
            <a:ext cx="8321100" cy="1143000"/>
            <a:chOff x="411480" y="2857500"/>
            <a:chExt cx="8321100" cy="1143000"/>
          </a:xfrm>
        </p:grpSpPr>
        <p:sp>
          <p:nvSpPr>
            <p:cNvPr id="378" name="Google Shape;378;p40"/>
            <p:cNvSpPr/>
            <p:nvPr/>
          </p:nvSpPr>
          <p:spPr>
            <a:xfrm>
              <a:off x="411480" y="2857500"/>
              <a:ext cx="8321100" cy="1143000"/>
            </a:xfrm>
            <a:prstGeom prst="roundRect">
              <a:avLst>
                <a:gd fmla="val 100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" name="Google Shape;379;p40"/>
            <p:cNvSpPr txBox="1"/>
            <p:nvPr/>
          </p:nvSpPr>
          <p:spPr>
            <a:xfrm>
              <a:off x="411480" y="2857500"/>
              <a:ext cx="83211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38125" lIns="238125" spcFirstLastPara="1" rIns="238125" wrap="square" tIns="238125">
              <a:noAutofit/>
            </a:bodyPr>
            <a:lstStyle/>
            <a:p>
              <a:r>
                <a:t>ACCURACY, EVALUATION, AND RISK CONTROL</a:t>
              </a:r>
            </a:p>
            <a:p>
              <a:r>
                <a:t>Track precision/recall/false positives through field verification, then continuously tune rules while protecting privacy and operations.</a:t>
              </a:r>
            </a:p>
          </p:txBody>
        </p:sp>
      </p:grpSp>
      <p:sp>
        <p:nvSpPr>
          <p:cNvPr id="380" name="Google Shape;380;p40"/>
          <p:cNvSpPr txBox="1"/>
          <p:nvPr/>
        </p:nvSpPr>
        <p:spPr>
          <a:xfrm>
            <a:off x="411480" y="4762500"/>
            <a:ext cx="83211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800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Advance-RAG | Knowledge Graph Fraud Intelligence</a:t>
            </a:r>
            <a:endParaRPr b="0" sz="800">
              <a:solidFill>
                <a:srgbClr val="94A3B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